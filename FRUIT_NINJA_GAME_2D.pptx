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1" d="100"/>
          <a:sy n="71" d="100"/>
        </p:scale>
        <p:origin x="672" y="3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25/9/2026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25/9/2026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25/9/2026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25/9/2026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25/9/2026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25/9/2026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25/9/2026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25/9/2026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25/9/2026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25/9/2026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25/9/2026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25/9/2026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0E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CC6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E09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656539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917D69"/>
                </a:solidFill>
                <a:latin typeface="Segoe UI"/>
              </a:defRPr>
            </a:pPr>
            <a:r>
              <a:t>FRUIT NINJA – GAME ĐÀO VÀNG 2D  •  ĐỒ ÁN PHÁT TRIỂN GAME 2D CNTT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565392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>
                <a:solidFill>
                  <a:srgbClr val="FCC64B"/>
                </a:solidFill>
                <a:latin typeface="Segoe UI"/>
              </a:defRPr>
            </a:pPr>
            <a:r>
              <a:t>Slide 1 / 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731520"/>
            <a:ext cx="10728655" cy="5440680"/>
          </a:xfrm>
          <a:prstGeom prst="roundRect">
            <a:avLst/>
          </a:prstGeom>
          <a:solidFill>
            <a:srgbClr val="221811"/>
          </a:solidFill>
          <a:ln w="15240">
            <a:solidFill>
              <a:srgbClr val="DCA8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1188720" y="1051560"/>
            <a:ext cx="5029200" cy="384048"/>
          </a:xfrm>
          <a:prstGeom prst="roundRect">
            <a:avLst/>
          </a:prstGeom>
          <a:solidFill>
            <a:srgbClr val="302218"/>
          </a:solidFill>
          <a:ln w="12700">
            <a:solidFill>
              <a:srgbClr val="DCA8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CC64B"/>
                </a:solidFill>
                <a:latin typeface="Segoe UI"/>
              </a:defRPr>
            </a:pPr>
            <a:r>
              <a:t>⚔️  BÁO CÁO ĐỒ ÁN PHÁT TRIỂN GAME 2D  •  CNTT  ⚔️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600200"/>
            <a:ext cx="685800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CC64B"/>
                </a:solidFill>
                <a:latin typeface="Segoe UI"/>
              </a:defRPr>
            </a:pPr>
            <a:r>
              <a:t>FRUIT NINJA – GAME ĐÀO VÀNG 2D</a:t>
            </a:r>
          </a:p>
          <a:p>
            <a:pPr>
              <a:defRPr sz="1500" b="1">
                <a:solidFill>
                  <a:srgbClr val="FFFCF5"/>
                </a:solidFill>
                <a:latin typeface="Segoe UI"/>
              </a:defRPr>
            </a:pPr>
            <a:r>
              <a:t>TỰA GAME CHÉM HOA QUẢ 2D PHONG CÁCH VÕ QUÁN TRUYỀN THỐNG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88720" y="2926080"/>
            <a:ext cx="6217920" cy="36576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1188720" y="3154680"/>
            <a:ext cx="6217920" cy="2560320"/>
          </a:xfrm>
          <a:prstGeom prst="roundRect">
            <a:avLst/>
          </a:prstGeom>
          <a:solidFill>
            <a:srgbClr val="302218"/>
          </a:solidFill>
          <a:ln w="15240">
            <a:solidFill>
              <a:srgbClr val="553E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417320" y="3291840"/>
            <a:ext cx="576072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50" b="1" dirty="0">
                <a:solidFill>
                  <a:srgbClr val="FCC64B"/>
                </a:solidFill>
                <a:latin typeface="Segoe UI"/>
              </a:rPr>
              <a:t>• </a:t>
            </a:r>
            <a:r>
              <a:rPr sz="1150" b="1" dirty="0" err="1">
                <a:solidFill>
                  <a:srgbClr val="FCC64B"/>
                </a:solidFill>
                <a:latin typeface="Segoe UI"/>
              </a:rPr>
              <a:t>Giảng</a:t>
            </a:r>
            <a:r>
              <a:rPr sz="1150" b="1" dirty="0">
                <a:solidFill>
                  <a:srgbClr val="FCC64B"/>
                </a:solidFill>
                <a:latin typeface="Segoe UI"/>
              </a:rPr>
              <a:t> </a:t>
            </a:r>
            <a:r>
              <a:rPr sz="1150" b="1" dirty="0" err="1">
                <a:solidFill>
                  <a:srgbClr val="FCC64B"/>
                </a:solidFill>
                <a:latin typeface="Segoe UI"/>
              </a:rPr>
              <a:t>viên</a:t>
            </a:r>
            <a:r>
              <a:rPr sz="1150" b="1" dirty="0">
                <a:solidFill>
                  <a:srgbClr val="FCC64B"/>
                </a:solidFill>
                <a:latin typeface="Segoe UI"/>
              </a:rPr>
              <a:t> </a:t>
            </a:r>
            <a:r>
              <a:rPr sz="1150" b="1" dirty="0" err="1">
                <a:solidFill>
                  <a:srgbClr val="FCC64B"/>
                </a:solidFill>
                <a:latin typeface="Segoe UI"/>
              </a:rPr>
              <a:t>hướng</a:t>
            </a:r>
            <a:r>
              <a:rPr sz="1150" b="1" dirty="0">
                <a:solidFill>
                  <a:srgbClr val="FCC64B"/>
                </a:solidFill>
                <a:latin typeface="Segoe UI"/>
              </a:rPr>
              <a:t> </a:t>
            </a:r>
            <a:r>
              <a:rPr sz="1150" b="1" dirty="0" err="1">
                <a:solidFill>
                  <a:srgbClr val="FCC64B"/>
                </a:solidFill>
                <a:latin typeface="Segoe UI"/>
              </a:rPr>
              <a:t>dẫn</a:t>
            </a:r>
            <a:r>
              <a:rPr sz="1150" b="1" dirty="0">
                <a:solidFill>
                  <a:srgbClr val="FCC64B"/>
                </a:solidFill>
                <a:latin typeface="Segoe UI"/>
              </a:rPr>
              <a:t>: </a:t>
            </a:r>
            <a:r>
              <a:rPr lang="en-US" sz="1150" dirty="0" err="1" smtClean="0">
                <a:solidFill>
                  <a:srgbClr val="EBE4DA"/>
                </a:solidFill>
                <a:latin typeface="Segoe UI"/>
              </a:rPr>
              <a:t>Lê</a:t>
            </a:r>
            <a:r>
              <a:rPr lang="en-US" sz="1150" dirty="0" smtClean="0">
                <a:solidFill>
                  <a:srgbClr val="EBE4DA"/>
                </a:solidFill>
                <a:latin typeface="Segoe UI"/>
              </a:rPr>
              <a:t> </a:t>
            </a:r>
            <a:r>
              <a:rPr lang="en-US" sz="1150" dirty="0" err="1" smtClean="0">
                <a:solidFill>
                  <a:srgbClr val="EBE4DA"/>
                </a:solidFill>
                <a:latin typeface="Segoe UI"/>
              </a:rPr>
              <a:t>Văn</a:t>
            </a:r>
            <a:r>
              <a:rPr lang="en-US" sz="1150" dirty="0" smtClean="0">
                <a:solidFill>
                  <a:srgbClr val="EBE4DA"/>
                </a:solidFill>
                <a:latin typeface="Segoe UI"/>
              </a:rPr>
              <a:t> </a:t>
            </a:r>
            <a:r>
              <a:rPr lang="en-US" sz="1150" dirty="0" err="1" smtClean="0">
                <a:solidFill>
                  <a:srgbClr val="EBE4DA"/>
                </a:solidFill>
                <a:latin typeface="Segoe UI"/>
              </a:rPr>
              <a:t>Hội</a:t>
            </a:r>
            <a:endParaRPr sz="1150" dirty="0">
              <a:solidFill>
                <a:srgbClr val="EBE4DA"/>
              </a:solidFill>
              <a:latin typeface="Segoe UI"/>
            </a:endParaRPr>
          </a:p>
          <a:p>
            <a:pPr>
              <a:spcAft>
                <a:spcPts val="400"/>
              </a:spcAft>
            </a:pPr>
            <a:r>
              <a:rPr sz="1150" b="1" dirty="0">
                <a:solidFill>
                  <a:srgbClr val="FCC64B"/>
                </a:solidFill>
                <a:latin typeface="Segoe UI"/>
              </a:rPr>
              <a:t>• </a:t>
            </a:r>
            <a:r>
              <a:rPr sz="1150" b="1" dirty="0" err="1">
                <a:solidFill>
                  <a:srgbClr val="FCC64B"/>
                </a:solidFill>
                <a:latin typeface="Segoe UI"/>
              </a:rPr>
              <a:t>Sinh</a:t>
            </a:r>
            <a:r>
              <a:rPr sz="1150" b="1" dirty="0">
                <a:solidFill>
                  <a:srgbClr val="FCC64B"/>
                </a:solidFill>
                <a:latin typeface="Segoe UI"/>
              </a:rPr>
              <a:t> </a:t>
            </a:r>
            <a:r>
              <a:rPr sz="1150" b="1" dirty="0" err="1">
                <a:solidFill>
                  <a:srgbClr val="FCC64B"/>
                </a:solidFill>
                <a:latin typeface="Segoe UI"/>
              </a:rPr>
              <a:t>viên</a:t>
            </a:r>
            <a:r>
              <a:rPr sz="1150" b="1" dirty="0">
                <a:solidFill>
                  <a:srgbClr val="FCC64B"/>
                </a:solidFill>
                <a:latin typeface="Segoe UI"/>
              </a:rPr>
              <a:t> </a:t>
            </a:r>
            <a:r>
              <a:rPr sz="1150" b="1" dirty="0" err="1">
                <a:solidFill>
                  <a:srgbClr val="FCC64B"/>
                </a:solidFill>
                <a:latin typeface="Segoe UI"/>
              </a:rPr>
              <a:t>thực</a:t>
            </a:r>
            <a:r>
              <a:rPr sz="1150" b="1" dirty="0">
                <a:solidFill>
                  <a:srgbClr val="FCC64B"/>
                </a:solidFill>
                <a:latin typeface="Segoe UI"/>
              </a:rPr>
              <a:t> </a:t>
            </a:r>
            <a:r>
              <a:rPr sz="1150" b="1" dirty="0" err="1">
                <a:solidFill>
                  <a:srgbClr val="FCC64B"/>
                </a:solidFill>
                <a:latin typeface="Segoe UI"/>
              </a:rPr>
              <a:t>hiện</a:t>
            </a:r>
            <a:r>
              <a:rPr sz="1150" b="1" dirty="0">
                <a:solidFill>
                  <a:srgbClr val="FCC64B"/>
                </a:solidFill>
                <a:latin typeface="Segoe UI"/>
              </a:rPr>
              <a:t>: </a:t>
            </a:r>
            <a:r>
              <a:rPr lang="en-US" sz="1150" dirty="0" err="1" smtClean="0">
                <a:solidFill>
                  <a:srgbClr val="EBE4DA"/>
                </a:solidFill>
                <a:latin typeface="Segoe UI"/>
              </a:rPr>
              <a:t>Lê</a:t>
            </a:r>
            <a:r>
              <a:rPr lang="en-US" sz="1150" dirty="0" smtClean="0">
                <a:solidFill>
                  <a:srgbClr val="EBE4DA"/>
                </a:solidFill>
                <a:latin typeface="Segoe UI"/>
              </a:rPr>
              <a:t> </a:t>
            </a:r>
            <a:r>
              <a:rPr lang="en-US" sz="1150" dirty="0" err="1" smtClean="0">
                <a:solidFill>
                  <a:srgbClr val="EBE4DA"/>
                </a:solidFill>
                <a:latin typeface="Segoe UI"/>
              </a:rPr>
              <a:t>Đức</a:t>
            </a:r>
            <a:r>
              <a:rPr lang="en-US" sz="1150" dirty="0" smtClean="0">
                <a:solidFill>
                  <a:srgbClr val="EBE4DA"/>
                </a:solidFill>
                <a:latin typeface="Segoe UI"/>
              </a:rPr>
              <a:t> </a:t>
            </a:r>
            <a:r>
              <a:rPr lang="en-US" sz="1150" dirty="0" err="1" smtClean="0">
                <a:solidFill>
                  <a:srgbClr val="EBE4DA"/>
                </a:solidFill>
                <a:latin typeface="Segoe UI"/>
              </a:rPr>
              <a:t>Trọng</a:t>
            </a:r>
            <a:endParaRPr sz="1150" dirty="0">
              <a:solidFill>
                <a:srgbClr val="EBE4DA"/>
              </a:solidFill>
              <a:latin typeface="Segoe UI"/>
            </a:endParaRPr>
          </a:p>
          <a:p>
            <a:pPr>
              <a:spcAft>
                <a:spcPts val="400"/>
              </a:spcAft>
            </a:pPr>
            <a:r>
              <a:rPr sz="1150" b="1" dirty="0" smtClean="0">
                <a:solidFill>
                  <a:srgbClr val="FCC64B"/>
                </a:solidFill>
                <a:latin typeface="Segoe UI"/>
              </a:rPr>
              <a:t>• </a:t>
            </a:r>
            <a:r>
              <a:rPr sz="1150" b="1" dirty="0" err="1">
                <a:solidFill>
                  <a:srgbClr val="FCC64B"/>
                </a:solidFill>
                <a:latin typeface="Segoe UI"/>
              </a:rPr>
              <a:t>Chuyên</a:t>
            </a:r>
            <a:r>
              <a:rPr sz="1150" b="1" dirty="0">
                <a:solidFill>
                  <a:srgbClr val="FCC64B"/>
                </a:solidFill>
                <a:latin typeface="Segoe UI"/>
              </a:rPr>
              <a:t> </a:t>
            </a:r>
            <a:r>
              <a:rPr sz="1150" b="1" dirty="0" err="1">
                <a:solidFill>
                  <a:srgbClr val="FCC64B"/>
                </a:solidFill>
                <a:latin typeface="Segoe UI"/>
              </a:rPr>
              <a:t>ngành</a:t>
            </a:r>
            <a:r>
              <a:rPr sz="1150" b="1" dirty="0">
                <a:solidFill>
                  <a:srgbClr val="FCC64B"/>
                </a:solidFill>
                <a:latin typeface="Segoe UI"/>
              </a:rPr>
              <a:t> </a:t>
            </a:r>
            <a:r>
              <a:rPr sz="1150" b="1" dirty="0" err="1">
                <a:solidFill>
                  <a:srgbClr val="FCC64B"/>
                </a:solidFill>
                <a:latin typeface="Segoe UI"/>
              </a:rPr>
              <a:t>đào</a:t>
            </a:r>
            <a:r>
              <a:rPr sz="1150" b="1" dirty="0">
                <a:solidFill>
                  <a:srgbClr val="FCC64B"/>
                </a:solidFill>
                <a:latin typeface="Segoe UI"/>
              </a:rPr>
              <a:t> </a:t>
            </a:r>
            <a:r>
              <a:rPr sz="1150" b="1" dirty="0" err="1">
                <a:solidFill>
                  <a:srgbClr val="FCC64B"/>
                </a:solidFill>
                <a:latin typeface="Segoe UI"/>
              </a:rPr>
              <a:t>tạo</a:t>
            </a:r>
            <a:r>
              <a:rPr sz="1150" b="1" dirty="0">
                <a:solidFill>
                  <a:srgbClr val="FCC64B"/>
                </a:solidFill>
                <a:latin typeface="Segoe UI"/>
              </a:rPr>
              <a:t>: </a:t>
            </a:r>
            <a:r>
              <a:rPr sz="1150" dirty="0" err="1">
                <a:solidFill>
                  <a:srgbClr val="EBE4DA"/>
                </a:solidFill>
                <a:latin typeface="Segoe UI"/>
              </a:rPr>
              <a:t>Công</a:t>
            </a:r>
            <a:r>
              <a:rPr sz="1150" dirty="0">
                <a:solidFill>
                  <a:srgbClr val="EBE4DA"/>
                </a:solidFill>
                <a:latin typeface="Segoe UI"/>
              </a:rPr>
              <a:t> </a:t>
            </a:r>
            <a:r>
              <a:rPr sz="1150" dirty="0" err="1">
                <a:solidFill>
                  <a:srgbClr val="EBE4DA"/>
                </a:solidFill>
                <a:latin typeface="Segoe UI"/>
              </a:rPr>
              <a:t>nghệ</a:t>
            </a:r>
            <a:r>
              <a:rPr sz="1150" dirty="0">
                <a:solidFill>
                  <a:srgbClr val="EBE4DA"/>
                </a:solidFill>
                <a:latin typeface="Segoe UI"/>
              </a:rPr>
              <a:t> </a:t>
            </a:r>
            <a:r>
              <a:rPr sz="1150" dirty="0" err="1">
                <a:solidFill>
                  <a:srgbClr val="EBE4DA"/>
                </a:solidFill>
                <a:latin typeface="Segoe UI"/>
              </a:rPr>
              <a:t>Thông</a:t>
            </a:r>
            <a:r>
              <a:rPr sz="1150" dirty="0">
                <a:solidFill>
                  <a:srgbClr val="EBE4DA"/>
                </a:solidFill>
                <a:latin typeface="Segoe UI"/>
              </a:rPr>
              <a:t> tin / </a:t>
            </a:r>
            <a:r>
              <a:rPr sz="1150" dirty="0" err="1">
                <a:solidFill>
                  <a:srgbClr val="EBE4DA"/>
                </a:solidFill>
                <a:latin typeface="Segoe UI"/>
              </a:rPr>
              <a:t>Kỹ</a:t>
            </a:r>
            <a:r>
              <a:rPr sz="1150" dirty="0">
                <a:solidFill>
                  <a:srgbClr val="EBE4DA"/>
                </a:solidFill>
                <a:latin typeface="Segoe UI"/>
              </a:rPr>
              <a:t> </a:t>
            </a:r>
            <a:r>
              <a:rPr sz="1150" dirty="0" err="1">
                <a:solidFill>
                  <a:srgbClr val="EBE4DA"/>
                </a:solidFill>
                <a:latin typeface="Segoe UI"/>
              </a:rPr>
              <a:t>thuật</a:t>
            </a:r>
            <a:r>
              <a:rPr sz="1150" dirty="0">
                <a:solidFill>
                  <a:srgbClr val="EBE4DA"/>
                </a:solidFill>
                <a:latin typeface="Segoe UI"/>
              </a:rPr>
              <a:t> </a:t>
            </a:r>
            <a:r>
              <a:rPr sz="1150" dirty="0" err="1">
                <a:solidFill>
                  <a:srgbClr val="EBE4DA"/>
                </a:solidFill>
                <a:latin typeface="Segoe UI"/>
              </a:rPr>
              <a:t>Phần</a:t>
            </a:r>
            <a:r>
              <a:rPr sz="1150" dirty="0">
                <a:solidFill>
                  <a:srgbClr val="EBE4DA"/>
                </a:solidFill>
                <a:latin typeface="Segoe UI"/>
              </a:rPr>
              <a:t> </a:t>
            </a:r>
            <a:r>
              <a:rPr sz="1150" dirty="0" err="1">
                <a:solidFill>
                  <a:srgbClr val="EBE4DA"/>
                </a:solidFill>
                <a:latin typeface="Segoe UI"/>
              </a:rPr>
              <a:t>mềm</a:t>
            </a:r>
            <a:endParaRPr sz="1150" dirty="0">
              <a:solidFill>
                <a:srgbClr val="EBE4DA"/>
              </a:solidFill>
              <a:latin typeface="Segoe UI"/>
            </a:endParaRPr>
          </a:p>
          <a:p>
            <a:pPr>
              <a:spcAft>
                <a:spcPts val="400"/>
              </a:spcAft>
            </a:pPr>
            <a:r>
              <a:rPr sz="1150" b="1" dirty="0">
                <a:solidFill>
                  <a:srgbClr val="FCC64B"/>
                </a:solidFill>
                <a:latin typeface="Segoe UI"/>
              </a:rPr>
              <a:t>• </a:t>
            </a:r>
            <a:r>
              <a:rPr sz="1150" b="1" dirty="0" err="1">
                <a:solidFill>
                  <a:srgbClr val="FCC64B"/>
                </a:solidFill>
                <a:latin typeface="Segoe UI"/>
              </a:rPr>
              <a:t>Công</a:t>
            </a:r>
            <a:r>
              <a:rPr sz="1150" b="1" dirty="0">
                <a:solidFill>
                  <a:srgbClr val="FCC64B"/>
                </a:solidFill>
                <a:latin typeface="Segoe UI"/>
              </a:rPr>
              <a:t> </a:t>
            </a:r>
            <a:r>
              <a:rPr sz="1150" b="1" dirty="0" err="1">
                <a:solidFill>
                  <a:srgbClr val="FCC64B"/>
                </a:solidFill>
                <a:latin typeface="Segoe UI"/>
              </a:rPr>
              <a:t>nghệ</a:t>
            </a:r>
            <a:r>
              <a:rPr sz="1150" b="1" dirty="0">
                <a:solidFill>
                  <a:srgbClr val="FCC64B"/>
                </a:solidFill>
                <a:latin typeface="Segoe UI"/>
              </a:rPr>
              <a:t> </a:t>
            </a:r>
            <a:r>
              <a:rPr sz="1150" b="1" dirty="0" err="1">
                <a:solidFill>
                  <a:srgbClr val="FCC64B"/>
                </a:solidFill>
                <a:latin typeface="Segoe UI"/>
              </a:rPr>
              <a:t>sử</a:t>
            </a:r>
            <a:r>
              <a:rPr sz="1150" b="1" dirty="0">
                <a:solidFill>
                  <a:srgbClr val="FCC64B"/>
                </a:solidFill>
                <a:latin typeface="Segoe UI"/>
              </a:rPr>
              <a:t> </a:t>
            </a:r>
            <a:r>
              <a:rPr sz="1150" b="1" dirty="0" err="1">
                <a:solidFill>
                  <a:srgbClr val="FCC64B"/>
                </a:solidFill>
                <a:latin typeface="Segoe UI"/>
              </a:rPr>
              <a:t>dụng</a:t>
            </a:r>
            <a:r>
              <a:rPr sz="1150" b="1" dirty="0">
                <a:solidFill>
                  <a:srgbClr val="FCC64B"/>
                </a:solidFill>
                <a:latin typeface="Segoe UI"/>
              </a:rPr>
              <a:t>: </a:t>
            </a:r>
            <a:r>
              <a:rPr sz="1150" dirty="0">
                <a:solidFill>
                  <a:srgbClr val="EBE4DA"/>
                </a:solidFill>
                <a:latin typeface="Segoe UI"/>
              </a:rPr>
              <a:t>Unity Engine (URP 2D)  •  </a:t>
            </a:r>
            <a:r>
              <a:rPr sz="1150" dirty="0" err="1">
                <a:solidFill>
                  <a:srgbClr val="EBE4DA"/>
                </a:solidFill>
                <a:latin typeface="Segoe UI"/>
              </a:rPr>
              <a:t>Ngôn</a:t>
            </a:r>
            <a:r>
              <a:rPr sz="1150" dirty="0">
                <a:solidFill>
                  <a:srgbClr val="EBE4DA"/>
                </a:solidFill>
                <a:latin typeface="Segoe UI"/>
              </a:rPr>
              <a:t> </a:t>
            </a:r>
            <a:r>
              <a:rPr sz="1150" dirty="0" err="1">
                <a:solidFill>
                  <a:srgbClr val="EBE4DA"/>
                </a:solidFill>
                <a:latin typeface="Segoe UI"/>
              </a:rPr>
              <a:t>ngữ</a:t>
            </a:r>
            <a:r>
              <a:rPr sz="1150" dirty="0">
                <a:solidFill>
                  <a:srgbClr val="EBE4DA"/>
                </a:solidFill>
                <a:latin typeface="Segoe UI"/>
              </a:rPr>
              <a:t> C# Scripting</a:t>
            </a:r>
          </a:p>
        </p:txBody>
      </p:sp>
      <p:pic>
        <p:nvPicPr>
          <p:cNvPr id="13" name="Picture 12" descr="Dưa hấ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79" y="1188720"/>
            <a:ext cx="2377440" cy="1337310"/>
          </a:xfrm>
          <a:prstGeom prst="rect">
            <a:avLst/>
          </a:prstGeom>
        </p:spPr>
      </p:pic>
      <p:pic>
        <p:nvPicPr>
          <p:cNvPr id="14" name="Picture 13" descr="bom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3474720"/>
            <a:ext cx="1645920" cy="1004011"/>
          </a:xfrm>
          <a:prstGeom prst="rect">
            <a:avLst/>
          </a:prstGeom>
        </p:spPr>
      </p:pic>
      <p:pic>
        <p:nvPicPr>
          <p:cNvPr id="15" name="Picture 14" descr="C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89520" y="4114800"/>
            <a:ext cx="1554480" cy="15544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0E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CC6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E09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656539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917D69"/>
                </a:solidFill>
                <a:latin typeface="Segoe UI"/>
              </a:defRPr>
            </a:pPr>
            <a:r>
              <a:t>FRUIT NINJA – GAME ĐÀO VÀNG 2D  •  ĐỒ ÁN PHÁT TRIỂN GAME 2D CNTT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565392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>
                <a:solidFill>
                  <a:srgbClr val="FCC64B"/>
                </a:solidFill>
                <a:latin typeface="Segoe UI"/>
              </a:defRPr>
            </a:pPr>
            <a:r>
              <a:t>Slide 2 /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2004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FCC64B"/>
                </a:solidFill>
                <a:latin typeface="Segoe UI"/>
              </a:defRPr>
            </a:pPr>
            <a:r>
              <a:t>★  01. TỔNG QUAN ĐỀ TÀI  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94360"/>
            <a:ext cx="105156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300" b="1">
                <a:solidFill>
                  <a:srgbClr val="FFFCF5"/>
                </a:solidFill>
                <a:latin typeface="Segoe UI"/>
              </a:defRPr>
            </a:pPr>
            <a:r>
              <a:t>TỔNG QUAN ĐỀ TÀI &amp; MỤC TIÊU PHÁT TRIỂN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115568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>
                <a:solidFill>
                  <a:srgbClr val="B9AA9B"/>
                </a:solidFill>
                <a:latin typeface="Segoe UI"/>
              </a:defRPr>
            </a:pPr>
            <a:r>
              <a:t>Định hướng phát triển tựa game 2D mang tính giải trí cao, kỹ thuật tối ưu và lối chơi mượt mà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554480"/>
            <a:ext cx="3328416" cy="4754880"/>
          </a:xfrm>
          <a:prstGeom prst="roundRect">
            <a:avLst/>
          </a:prstGeom>
          <a:solidFill>
            <a:srgbClr val="221811"/>
          </a:solidFill>
          <a:ln w="15240">
            <a:solidFill>
              <a:srgbClr val="FCC6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868680" y="1691640"/>
            <a:ext cx="3054096" cy="685800"/>
          </a:xfrm>
          <a:prstGeom prst="roundRect">
            <a:avLst/>
          </a:prstGeom>
          <a:solidFill>
            <a:srgbClr val="302218"/>
          </a:solidFill>
          <a:ln w="12700">
            <a:solidFill>
              <a:srgbClr val="FCC6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14400" y="1737360"/>
            <a:ext cx="2962656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CC64B"/>
                </a:solidFill>
                <a:latin typeface="Segoe UI"/>
              </a:defRPr>
            </a:pPr>
            <a:r>
              <a:t>01 • Ý TƯỞNG &amp; ĐỀ TÀI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514600"/>
            <a:ext cx="2962656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150" b="1">
                <a:solidFill>
                  <a:srgbClr val="FFFCF5"/>
                </a:solidFill>
                <a:latin typeface="Segoe UI"/>
              </a:rPr>
              <a:t>✔ Lối chơi kinh điển: </a:t>
            </a:r>
            <a:r>
              <a:rPr sz="1100">
                <a:solidFill>
                  <a:srgbClr val="B9AA9B"/>
                </a:solidFill>
                <a:latin typeface="Segoe UI"/>
              </a:rPr>
              <a:t>Kế thừa phong cách Fruit Ninja nhanh nhẹn, lôi cuốn.</a:t>
            </a:r>
          </a:p>
          <a:p>
            <a:pPr>
              <a:spcAft>
                <a:spcPts val="1200"/>
              </a:spcAft>
            </a:pPr>
            <a:r>
              <a:rPr sz="1150" b="1">
                <a:solidFill>
                  <a:srgbClr val="FFFCF5"/>
                </a:solidFill>
                <a:latin typeface="Segoe UI"/>
              </a:rPr>
              <a:t>✔ Chủ đề Võ Quán: </a:t>
            </a:r>
            <a:r>
              <a:rPr sz="1100">
                <a:solidFill>
                  <a:srgbClr val="B9AA9B"/>
                </a:solidFill>
                <a:latin typeface="Segoe UI"/>
              </a:rPr>
              <a:t>Không gian mộc mạc, đậm chất kiếm đạo truyền thống.</a:t>
            </a:r>
          </a:p>
          <a:p>
            <a:pPr>
              <a:spcAft>
                <a:spcPts val="1200"/>
              </a:spcAft>
            </a:pPr>
            <a:r>
              <a:rPr sz="1150" b="1">
                <a:solidFill>
                  <a:srgbClr val="FFFCF5"/>
                </a:solidFill>
                <a:latin typeface="Segoe UI"/>
              </a:rPr>
              <a:t>✔ Giải trí tức thì: </a:t>
            </a:r>
            <a:r>
              <a:rPr sz="1100">
                <a:solidFill>
                  <a:srgbClr val="B9AA9B"/>
                </a:solidFill>
                <a:latin typeface="Segoe UI"/>
              </a:rPr>
              <a:t>Phù hợp mọi lứa tuổi, giải tỏa căng thẳng hiệu quả.</a:t>
            </a:r>
          </a:p>
        </p:txBody>
      </p:sp>
      <p:pic>
        <p:nvPicPr>
          <p:cNvPr id="14" name="Picture 13" descr="tá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0" y="5257800"/>
            <a:ext cx="868680" cy="86868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425696" y="1554480"/>
            <a:ext cx="3328416" cy="4754880"/>
          </a:xfrm>
          <a:prstGeom prst="roundRect">
            <a:avLst/>
          </a:prstGeom>
          <a:solidFill>
            <a:srgbClr val="221811"/>
          </a:solidFill>
          <a:ln w="1524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4562856" y="1691640"/>
            <a:ext cx="3054096" cy="685800"/>
          </a:xfrm>
          <a:prstGeom prst="roundRect">
            <a:avLst/>
          </a:prstGeom>
          <a:solidFill>
            <a:srgbClr val="302218"/>
          </a:solidFill>
          <a:ln w="127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608576" y="1737360"/>
            <a:ext cx="2962656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39C12"/>
                </a:solidFill>
                <a:latin typeface="Segoe UI"/>
              </a:defRPr>
            </a:pPr>
            <a:r>
              <a:t>02 • MỤC TIÊU KỸ THUẬT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08576" y="2514600"/>
            <a:ext cx="2962656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150" b="1">
                <a:solidFill>
                  <a:srgbClr val="FFFCF5"/>
                </a:solidFill>
                <a:latin typeface="Segoe UI"/>
              </a:rPr>
              <a:t>✔ Vật lý Unity 2D: </a:t>
            </a:r>
            <a:r>
              <a:rPr sz="1100">
                <a:solidFill>
                  <a:srgbClr val="B9AA9B"/>
                </a:solidFill>
                <a:latin typeface="Segoe UI"/>
              </a:rPr>
              <a:t>Làm chủ Rigidbody2D, CircleCollider2D &amp; Raycast.</a:t>
            </a:r>
          </a:p>
          <a:p>
            <a:pPr>
              <a:spcAft>
                <a:spcPts val="1200"/>
              </a:spcAft>
            </a:pPr>
            <a:r>
              <a:rPr sz="1150" b="1">
                <a:solidFill>
                  <a:srgbClr val="FFFCF5"/>
                </a:solidFill>
                <a:latin typeface="Segoe UI"/>
              </a:rPr>
              <a:t>✔ Object Pooling: </a:t>
            </a:r>
            <a:r>
              <a:rPr sz="1100">
                <a:solidFill>
                  <a:srgbClr val="B9AA9B"/>
                </a:solidFill>
                <a:latin typeface="Segoe UI"/>
              </a:rPr>
              <a:t>Tối ưu hóa RAM, triệt tiêu giật lag do Garbage Collector.</a:t>
            </a:r>
          </a:p>
          <a:p>
            <a:pPr>
              <a:spcAft>
                <a:spcPts val="1200"/>
              </a:spcAft>
            </a:pPr>
            <a:r>
              <a:rPr sz="1150" b="1">
                <a:solidFill>
                  <a:srgbClr val="FFFCF5"/>
                </a:solidFill>
                <a:latin typeface="Segoe UI"/>
              </a:rPr>
              <a:t>✔ Kiến trúc Clean Code: </a:t>
            </a:r>
            <a:r>
              <a:rPr sz="1100">
                <a:solidFill>
                  <a:srgbClr val="B9AA9B"/>
                </a:solidFill>
                <a:latin typeface="Segoe UI"/>
              </a:rPr>
              <a:t>Ứng dụng mô hình Singleton &amp; Event-Driven mạch lạc.</a:t>
            </a:r>
          </a:p>
        </p:txBody>
      </p:sp>
      <p:pic>
        <p:nvPicPr>
          <p:cNvPr id="19" name="Picture 18" descr="Chuo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0256" y="5257800"/>
            <a:ext cx="868680" cy="868680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8119872" y="1554480"/>
            <a:ext cx="3328416" cy="4754880"/>
          </a:xfrm>
          <a:prstGeom prst="roundRect">
            <a:avLst/>
          </a:prstGeom>
          <a:solidFill>
            <a:srgbClr val="221811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8257032" y="1691640"/>
            <a:ext cx="3054096" cy="685800"/>
          </a:xfrm>
          <a:prstGeom prst="roundRect">
            <a:avLst/>
          </a:prstGeom>
          <a:solidFill>
            <a:srgbClr val="302218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302752" y="1737360"/>
            <a:ext cx="2962656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2ECC71"/>
                </a:solidFill>
                <a:latin typeface="Segoe UI"/>
              </a:defRPr>
            </a:pPr>
            <a:r>
              <a:t>03 • TRẢI NGHIỆM NGƯỜI CHƠI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02752" y="2514600"/>
            <a:ext cx="2962656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150" b="1">
                <a:solidFill>
                  <a:srgbClr val="FFFCF5"/>
                </a:solidFill>
                <a:latin typeface="Segoe UI"/>
              </a:rPr>
              <a:t>✔ Chuẩn 60 FPS: </a:t>
            </a:r>
            <a:r>
              <a:rPr sz="1100">
                <a:solidFill>
                  <a:srgbClr val="B9AA9B"/>
                </a:solidFill>
                <a:latin typeface="Segoe UI"/>
              </a:rPr>
              <a:t>Vận hành ổn định, phản hồi thao tác tức thì.</a:t>
            </a:r>
          </a:p>
          <a:p>
            <a:pPr>
              <a:spcAft>
                <a:spcPts val="1200"/>
              </a:spcAft>
            </a:pPr>
            <a:r>
              <a:rPr sz="1150" b="1">
                <a:solidFill>
                  <a:srgbClr val="FFFCF5"/>
                </a:solidFill>
                <a:latin typeface="Segoe UI"/>
              </a:rPr>
              <a:t>✔ Hiệu ứng thị giác: </a:t>
            </a:r>
            <a:r>
              <a:rPr sz="1100">
                <a:solidFill>
                  <a:srgbClr val="B9AA9B"/>
                </a:solidFill>
                <a:latin typeface="Segoe UI"/>
              </a:rPr>
              <a:t>Vệt chém rực sáng, tóe nước ép và rung chấn nảy lửa.</a:t>
            </a:r>
          </a:p>
          <a:p>
            <a:pPr>
              <a:spcAft>
                <a:spcPts val="1200"/>
              </a:spcAft>
            </a:pPr>
            <a:r>
              <a:rPr sz="1150" b="1">
                <a:solidFill>
                  <a:srgbClr val="FFFCF5"/>
                </a:solidFill>
                <a:latin typeface="Segoe UI"/>
              </a:rPr>
              <a:t>✔ Khả năng mở rộng: </a:t>
            </a:r>
            <a:r>
              <a:rPr sz="1100">
                <a:solidFill>
                  <a:srgbClr val="B9AA9B"/>
                </a:solidFill>
                <a:latin typeface="Segoe UI"/>
              </a:rPr>
              <a:t>Cấu trúc linh hoạt, dễ dàng thêm màn chơi và skin mới.</a:t>
            </a:r>
          </a:p>
        </p:txBody>
      </p:sp>
      <p:pic>
        <p:nvPicPr>
          <p:cNvPr id="24" name="Picture 23" descr="DauTa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14432" y="5257800"/>
            <a:ext cx="868680" cy="86868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0E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CC6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E09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656539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917D69"/>
                </a:solidFill>
                <a:latin typeface="Segoe UI"/>
              </a:defRPr>
            </a:pPr>
            <a:r>
              <a:t>FRUIT NINJA – GAME ĐÀO VÀNG 2D  •  ĐỒ ÁN PHÁT TRIỂN GAME 2D CNTT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565392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>
                <a:solidFill>
                  <a:srgbClr val="FCC64B"/>
                </a:solidFill>
                <a:latin typeface="Segoe UI"/>
              </a:defRPr>
            </a:pPr>
            <a:r>
              <a:t>Slide 3 /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2004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FCC64B"/>
                </a:solidFill>
                <a:latin typeface="Segoe UI"/>
              </a:defRPr>
            </a:pPr>
            <a:r>
              <a:t>★  02. CƠ CHẾ TRÒ CHƠI  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94360"/>
            <a:ext cx="105156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300" b="1">
                <a:solidFill>
                  <a:srgbClr val="FFFCF5"/>
                </a:solidFill>
                <a:latin typeface="Segoe UI"/>
              </a:defRPr>
            </a:pPr>
            <a:r>
              <a:t>CỐT LÕI GAMEPLAY &amp; LUẬT CHƠI TRỰC QUAN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115568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>
                <a:solidFill>
                  <a:srgbClr val="B9AA9B"/>
                </a:solidFill>
                <a:latin typeface="Segoe UI"/>
              </a:defRPr>
            </a:pPr>
            <a:r>
              <a:t>Lối chơi đơn giản, phản xạ tốc độ cao, kích thích sự tập trung và độ chính xác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554480"/>
            <a:ext cx="5285232" cy="2267712"/>
          </a:xfrm>
          <a:prstGeom prst="roundRect">
            <a:avLst/>
          </a:prstGeom>
          <a:solidFill>
            <a:srgbClr val="221811"/>
          </a:solidFill>
          <a:ln w="15240">
            <a:solidFill>
              <a:srgbClr val="FCC6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1947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FCC64B"/>
                </a:solidFill>
                <a:latin typeface="Segoe UI"/>
              </a:defRPr>
            </a:pPr>
            <a:r>
              <a:t>⚔️  VỆT KIẾM CHÉM (BLADE SLICE)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029968"/>
            <a:ext cx="4919472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100" b="1">
                <a:solidFill>
                  <a:srgbClr val="FFFCF5"/>
                </a:solidFill>
                <a:latin typeface="Segoe UI"/>
              </a:rPr>
              <a:t>• Thao tác trực quan: </a:t>
            </a:r>
            <a:r>
              <a:rPr sz="1050">
                <a:solidFill>
                  <a:srgbClr val="B9AA9B"/>
                </a:solidFill>
                <a:latin typeface="Segoe UI"/>
              </a:rPr>
              <a:t>Nhấn giữ chuột hoặc vuốt chạm cảm ứng mượt mà.</a:t>
            </a:r>
          </a:p>
          <a:p>
            <a:pPr>
              <a:spcAft>
                <a:spcPts val="300"/>
              </a:spcAft>
            </a:pPr>
            <a:r>
              <a:rPr sz="1100" b="1">
                <a:solidFill>
                  <a:srgbClr val="FFFCF5"/>
                </a:solidFill>
                <a:latin typeface="Segoe UI"/>
              </a:rPr>
              <a:t>• Ngưỡng tốc độ (Min Velocity): </a:t>
            </a:r>
            <a:r>
              <a:rPr sz="1050">
                <a:solidFill>
                  <a:srgbClr val="B9AA9B"/>
                </a:solidFill>
                <a:latin typeface="Segoe UI"/>
              </a:rPr>
              <a:t>Chỉ kích hoạt nhát chém khi đường vuốt đủ nhanh.</a:t>
            </a:r>
          </a:p>
          <a:p>
            <a:pPr>
              <a:spcAft>
                <a:spcPts val="300"/>
              </a:spcAft>
            </a:pPr>
            <a:r>
              <a:rPr sz="1100" b="1">
                <a:solidFill>
                  <a:srgbClr val="FFFCF5"/>
                </a:solidFill>
                <a:latin typeface="Segoe UI"/>
              </a:rPr>
              <a:t>• Vệt sáng TrailRenderer: </a:t>
            </a:r>
            <a:r>
              <a:rPr sz="1050">
                <a:solidFill>
                  <a:srgbClr val="B9AA9B"/>
                </a:solidFill>
                <a:latin typeface="Segoe UI"/>
              </a:rPr>
              <a:t>Hiệu ứng vệt kiếm bám đuổi theo ngón tay không độ trễ.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554480"/>
            <a:ext cx="5285232" cy="2267712"/>
          </a:xfrm>
          <a:prstGeom prst="roundRect">
            <a:avLst/>
          </a:prstGeom>
          <a:solidFill>
            <a:srgbClr val="221811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355080" y="1664208"/>
            <a:ext cx="491947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2ECC71"/>
                </a:solidFill>
                <a:latin typeface="Segoe UI"/>
              </a:defRPr>
            </a:pPr>
            <a:r>
              <a:t>🍉  HOA QUẢ VẬT LÝ PARABOL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2029968"/>
            <a:ext cx="4919472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100" b="1">
                <a:solidFill>
                  <a:srgbClr val="FFFCF5"/>
                </a:solidFill>
                <a:latin typeface="Segoe UI"/>
              </a:rPr>
              <a:t>• Quỹ đạo ngẫu nhiên: </a:t>
            </a:r>
            <a:r>
              <a:rPr sz="1050">
                <a:solidFill>
                  <a:srgbClr val="B9AA9B"/>
                </a:solidFill>
                <a:latin typeface="Segoe UI"/>
              </a:rPr>
              <a:t>Bắn từ mép dưới với lực đẩy và góc xiên đa dạng.</a:t>
            </a:r>
          </a:p>
          <a:p>
            <a:pPr>
              <a:spcAft>
                <a:spcPts val="300"/>
              </a:spcAft>
            </a:pPr>
            <a:r>
              <a:rPr sz="1100" b="1">
                <a:solidFill>
                  <a:srgbClr val="FFFCF5"/>
                </a:solidFill>
                <a:latin typeface="Segoe UI"/>
              </a:rPr>
              <a:t>• Đa dạng chủng loại: </a:t>
            </a:r>
            <a:r>
              <a:rPr sz="1050">
                <a:solidFill>
                  <a:srgbClr val="B9AA9B"/>
                </a:solidFill>
                <a:latin typeface="Segoe UI"/>
              </a:rPr>
              <a:t>Dưa hấu, Táo, Cam, Chuối... mang điểm số riêng biệt.</a:t>
            </a:r>
          </a:p>
          <a:p>
            <a:pPr>
              <a:spcAft>
                <a:spcPts val="300"/>
              </a:spcAft>
            </a:pPr>
            <a:r>
              <a:rPr sz="1100" b="1">
                <a:solidFill>
                  <a:srgbClr val="FFFCF5"/>
                </a:solidFill>
                <a:latin typeface="Segoe UI"/>
              </a:rPr>
              <a:t>• Tách đôi sống động: </a:t>
            </a:r>
            <a:r>
              <a:rPr sz="1050">
                <a:solidFill>
                  <a:srgbClr val="B9AA9B"/>
                </a:solidFill>
                <a:latin typeface="Segoe UI"/>
              </a:rPr>
              <a:t>Chém trúng tách thành 2 nửa (FruitHalf) xoay rơi tự do.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005072"/>
            <a:ext cx="5285232" cy="2267712"/>
          </a:xfrm>
          <a:prstGeom prst="roundRect">
            <a:avLst/>
          </a:prstGeom>
          <a:solidFill>
            <a:srgbClr val="221811"/>
          </a:solidFill>
          <a:ln w="15240">
            <a:solidFill>
              <a:srgbClr val="EB41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14400" y="4114800"/>
            <a:ext cx="491947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EB4132"/>
                </a:solidFill>
                <a:latin typeface="Segoe UI"/>
              </a:defRPr>
            </a:pPr>
            <a:r>
              <a:t>💣  CHƯỚNG NGẠI BẪY BOM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480560"/>
            <a:ext cx="4919472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100" b="1">
                <a:solidFill>
                  <a:srgbClr val="FFFCF5"/>
                </a:solidFill>
                <a:latin typeface="Segoe UI"/>
              </a:rPr>
              <a:t>• Thử thách phản xạ: </a:t>
            </a:r>
            <a:r>
              <a:rPr sz="1050">
                <a:solidFill>
                  <a:srgbClr val="B9AA9B"/>
                </a:solidFill>
                <a:latin typeface="Segoe UI"/>
              </a:rPr>
              <a:t>Bom bay xen kẽ giữa các đợt trái cây bất ngờ.</a:t>
            </a:r>
          </a:p>
          <a:p>
            <a:pPr>
              <a:spcAft>
                <a:spcPts val="300"/>
              </a:spcAft>
            </a:pPr>
            <a:r>
              <a:rPr sz="1100" b="1">
                <a:solidFill>
                  <a:srgbClr val="FFFCF5"/>
                </a:solidFill>
                <a:latin typeface="Segoe UI"/>
              </a:rPr>
              <a:t>• Kích nổ rung chấn: </a:t>
            </a:r>
            <a:r>
              <a:rPr sz="1050">
                <a:solidFill>
                  <a:srgbClr val="B9AA9B"/>
                </a:solidFill>
                <a:latin typeface="Segoe UI"/>
              </a:rPr>
              <a:t>Chém phải bom: Lập tức phát nổ, rung màn hình &amp; trừ 1 Mạng.</a:t>
            </a:r>
          </a:p>
          <a:p>
            <a:pPr>
              <a:spcAft>
                <a:spcPts val="300"/>
              </a:spcAft>
            </a:pPr>
            <a:r>
              <a:rPr sz="1100" b="1">
                <a:solidFill>
                  <a:srgbClr val="FFFCF5"/>
                </a:solidFill>
                <a:latin typeface="Segoe UI"/>
              </a:rPr>
              <a:t>• Chiến thuật kiểm soát: </a:t>
            </a:r>
            <a:r>
              <a:rPr sz="1050">
                <a:solidFill>
                  <a:srgbClr val="B9AA9B"/>
                </a:solidFill>
                <a:latin typeface="Segoe UI"/>
              </a:rPr>
              <a:t>Buộc người chơi cân nhắc điểm dừng kiếm chuẩn xác.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2200" y="4005072"/>
            <a:ext cx="5285232" cy="2267712"/>
          </a:xfrm>
          <a:prstGeom prst="roundRect">
            <a:avLst/>
          </a:prstGeom>
          <a:solidFill>
            <a:srgbClr val="221811"/>
          </a:solidFill>
          <a:ln w="1524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355080" y="4114800"/>
            <a:ext cx="491947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F39C12"/>
                </a:solidFill>
                <a:latin typeface="Segoe UI"/>
              </a:defRPr>
            </a:pPr>
            <a:r>
              <a:t>❤️  SINH MỆNH &amp; ĐỘ KHÓ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4480560"/>
            <a:ext cx="4919472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100" b="1">
                <a:solidFill>
                  <a:srgbClr val="FFFCF5"/>
                </a:solidFill>
                <a:latin typeface="Segoe UI"/>
              </a:rPr>
              <a:t>• 3 Tim sinh mệnh: </a:t>
            </a:r>
            <a:r>
              <a:rPr sz="1050">
                <a:solidFill>
                  <a:srgbClr val="B9AA9B"/>
                </a:solidFill>
                <a:latin typeface="Segoe UI"/>
              </a:rPr>
              <a:t>Bắt đầu với 3 mạng sống; hết mạng sẽ Game Over.</a:t>
            </a:r>
          </a:p>
          <a:p>
            <a:pPr>
              <a:spcAft>
                <a:spcPts val="300"/>
              </a:spcAft>
            </a:pPr>
            <a:r>
              <a:rPr sz="1100" b="1">
                <a:solidFill>
                  <a:srgbClr val="FFFCF5"/>
                </a:solidFill>
                <a:latin typeface="Segoe UI"/>
              </a:rPr>
              <a:t>• Cơ chế giải trí: </a:t>
            </a:r>
            <a:r>
              <a:rPr sz="1050">
                <a:solidFill>
                  <a:srgbClr val="B9AA9B"/>
                </a:solidFill>
                <a:latin typeface="Segoe UI"/>
              </a:rPr>
              <a:t>Quả rơi chạm đáy màn hình không bị phạt trừ mạng.</a:t>
            </a:r>
          </a:p>
          <a:p>
            <a:pPr>
              <a:spcAft>
                <a:spcPts val="300"/>
              </a:spcAft>
            </a:pPr>
            <a:r>
              <a:rPr sz="1100" b="1">
                <a:solidFill>
                  <a:srgbClr val="FFFCF5"/>
                </a:solidFill>
                <a:latin typeface="Segoe UI"/>
              </a:rPr>
              <a:t>• Nhịp độ dồn dập: </a:t>
            </a:r>
            <a:r>
              <a:rPr sz="1050">
                <a:solidFill>
                  <a:srgbClr val="B9AA9B"/>
                </a:solidFill>
                <a:latin typeface="Segoe UI"/>
              </a:rPr>
              <a:t>Tần suất và tốc độ bắn tăng dần theo thời gian chơi.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0E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CC6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E09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656539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917D69"/>
                </a:solidFill>
                <a:latin typeface="Segoe UI"/>
              </a:defRPr>
            </a:pPr>
            <a:r>
              <a:t>FRUIT NINJA – GAME ĐÀO VÀNG 2D  •  ĐỒ ÁN PHÁT TRIỂN GAME 2D CNTT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565392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>
                <a:solidFill>
                  <a:srgbClr val="FCC64B"/>
                </a:solidFill>
                <a:latin typeface="Segoe UI"/>
              </a:defRPr>
            </a:pPr>
            <a:r>
              <a:t>Slide 4 /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2004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FCC64B"/>
                </a:solidFill>
                <a:latin typeface="Segoe UI"/>
              </a:defRPr>
            </a:pPr>
            <a:r>
              <a:t>★  03. NGĂN XẾP CÔNG NGHỆ  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94360"/>
            <a:ext cx="105156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300" b="1">
                <a:solidFill>
                  <a:srgbClr val="FFFCF5"/>
                </a:solidFill>
                <a:latin typeface="Segoe UI"/>
              </a:defRPr>
            </a:pPr>
            <a:r>
              <a:t>CÔNG NGHỆ &amp; BỘ CÔNG CỤ PHÁT TRIỂN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115568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>
                <a:solidFill>
                  <a:srgbClr val="B9AA9B"/>
                </a:solidFill>
                <a:latin typeface="Segoe UI"/>
              </a:defRPr>
            </a:pPr>
            <a:r>
              <a:t>Sử dụng bộ công cụ chuẩn công nghiệp game 2D, đảm bảo tính ổn định và khả năng tối ưu cao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554480"/>
            <a:ext cx="2542032" cy="4754880"/>
          </a:xfrm>
          <a:prstGeom prst="roundRect">
            <a:avLst/>
          </a:prstGeom>
          <a:solidFill>
            <a:srgbClr val="221811"/>
          </a:solidFill>
          <a:ln w="15240">
            <a:solidFill>
              <a:srgbClr val="FCC6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841248" y="1691640"/>
            <a:ext cx="2322576" cy="804672"/>
          </a:xfrm>
          <a:prstGeom prst="rect">
            <a:avLst/>
          </a:prstGeom>
          <a:solidFill>
            <a:srgbClr val="302218"/>
          </a:solidFill>
          <a:ln w="12700">
            <a:solidFill>
              <a:srgbClr val="FCC6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68680" y="1737360"/>
            <a:ext cx="226771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CC64B"/>
                </a:solidFill>
                <a:latin typeface="Segoe UI"/>
              </a:defRPr>
            </a:pPr>
            <a:r>
              <a:t>UNITY ENGINE</a:t>
            </a:r>
          </a:p>
          <a:p>
            <a:pPr>
              <a:defRPr sz="950">
                <a:solidFill>
                  <a:srgbClr val="B9AA9B"/>
                </a:solidFill>
                <a:latin typeface="Segoe UI"/>
              </a:defRPr>
            </a:pPr>
            <a:r>
              <a:t>2022 / 6 LTS (URP 2D)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2267712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>
                <a:solidFill>
                  <a:srgbClr val="FFFCF5"/>
                </a:solidFill>
                <a:latin typeface="Segoe UI"/>
              </a:defRPr>
            </a:pPr>
            <a:r>
              <a:t>❖  Động cơ phát triển game 2D hàng đầu.</a:t>
            </a:r>
          </a:p>
          <a:p>
            <a:pPr>
              <a:spcAft>
                <a:spcPts val="1200"/>
              </a:spcAft>
              <a:defRPr sz="1100">
                <a:solidFill>
                  <a:srgbClr val="FFFCF5"/>
                </a:solidFill>
                <a:latin typeface="Segoe UI"/>
              </a:defRPr>
            </a:pPr>
            <a:r>
              <a:t>❖  Universal Render Pipeline tối ưu đồ họa.</a:t>
            </a:r>
          </a:p>
          <a:p>
            <a:pPr>
              <a:spcAft>
                <a:spcPts val="1200"/>
              </a:spcAft>
              <a:defRPr sz="1100">
                <a:solidFill>
                  <a:srgbClr val="FFFCF5"/>
                </a:solidFill>
                <a:latin typeface="Segoe UI"/>
              </a:defRPr>
            </a:pPr>
            <a:r>
              <a:t>❖  Xuất đa nền tảng linh hoạt: PC, WebGL.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65576" y="1554480"/>
            <a:ext cx="2542032" cy="4754880"/>
          </a:xfrm>
          <a:prstGeom prst="roundRect">
            <a:avLst/>
          </a:prstGeom>
          <a:solidFill>
            <a:srgbClr val="221811"/>
          </a:solidFill>
          <a:ln w="1524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575304" y="1691640"/>
            <a:ext cx="2322576" cy="804672"/>
          </a:xfrm>
          <a:prstGeom prst="rect">
            <a:avLst/>
          </a:prstGeom>
          <a:solidFill>
            <a:srgbClr val="302218"/>
          </a:solidFill>
          <a:ln w="127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602736" y="1737360"/>
            <a:ext cx="226771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39C12"/>
                </a:solidFill>
                <a:latin typeface="Segoe UI"/>
              </a:defRPr>
            </a:pPr>
            <a:r>
              <a:t>NGÔN NGỮ C#</a:t>
            </a:r>
          </a:p>
          <a:p>
            <a:pPr>
              <a:defRPr sz="950">
                <a:solidFill>
                  <a:srgbClr val="B9AA9B"/>
                </a:solidFill>
                <a:latin typeface="Segoe UI"/>
              </a:defRPr>
            </a:pPr>
            <a:r>
              <a:t>Object-Oriented Programming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02736" y="2697480"/>
            <a:ext cx="2267712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>
                <a:solidFill>
                  <a:srgbClr val="FFFCF5"/>
                </a:solidFill>
                <a:latin typeface="Segoe UI"/>
              </a:defRPr>
            </a:pPr>
            <a:r>
              <a:t>❖  Hiện thực toàn bộ Gameplay &amp; Physics.</a:t>
            </a:r>
          </a:p>
          <a:p>
            <a:pPr>
              <a:spcAft>
                <a:spcPts val="1200"/>
              </a:spcAft>
              <a:defRPr sz="1100">
                <a:solidFill>
                  <a:srgbClr val="FFFCF5"/>
                </a:solidFill>
                <a:latin typeface="Segoe UI"/>
              </a:defRPr>
            </a:pPr>
            <a:r>
              <a:t>❖  Áp dụng triệt để nguyên lý Clean Code.</a:t>
            </a:r>
          </a:p>
          <a:p>
            <a:pPr>
              <a:spcAft>
                <a:spcPts val="1200"/>
              </a:spcAft>
              <a:defRPr sz="1100">
                <a:solidFill>
                  <a:srgbClr val="FFFCF5"/>
                </a:solidFill>
                <a:latin typeface="Segoe UI"/>
              </a:defRPr>
            </a:pPr>
            <a:r>
              <a:t>❖  Generic Collections tối ưu tốc độ xử lý.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9632" y="1554480"/>
            <a:ext cx="2542032" cy="4754880"/>
          </a:xfrm>
          <a:prstGeom prst="roundRect">
            <a:avLst/>
          </a:prstGeom>
          <a:solidFill>
            <a:srgbClr val="221811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309360" y="1691640"/>
            <a:ext cx="2322576" cy="804672"/>
          </a:xfrm>
          <a:prstGeom prst="rect">
            <a:avLst/>
          </a:prstGeom>
          <a:solidFill>
            <a:srgbClr val="302218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336792" y="1737360"/>
            <a:ext cx="226771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2ECC71"/>
                </a:solidFill>
                <a:latin typeface="Segoe UI"/>
              </a:defRPr>
            </a:pPr>
            <a:r>
              <a:t>VẬT LÝ UNITY 2D</a:t>
            </a:r>
          </a:p>
          <a:p>
            <a:pPr>
              <a:defRPr sz="950">
                <a:solidFill>
                  <a:srgbClr val="B9AA9B"/>
                </a:solidFill>
                <a:latin typeface="Segoe UI"/>
              </a:defRPr>
            </a:pPr>
            <a:r>
              <a:t>Physics2D &amp; Collision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36792" y="2697480"/>
            <a:ext cx="2267712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>
                <a:solidFill>
                  <a:srgbClr val="FFFCF5"/>
                </a:solidFill>
                <a:latin typeface="Segoe UI"/>
              </a:defRPr>
            </a:pPr>
            <a:r>
              <a:t>❖  Rigidbody2D mô phỏng trọng lực Parabol.</a:t>
            </a:r>
          </a:p>
          <a:p>
            <a:pPr>
              <a:spcAft>
                <a:spcPts val="1200"/>
              </a:spcAft>
              <a:defRPr sz="1100">
                <a:solidFill>
                  <a:srgbClr val="FFFCF5"/>
                </a:solidFill>
                <a:latin typeface="Segoe UI"/>
              </a:defRPr>
            </a:pPr>
            <a:r>
              <a:t>❖  Physics2D.Linecast dò tia cắt tức thời.</a:t>
            </a:r>
          </a:p>
          <a:p>
            <a:pPr>
              <a:spcAft>
                <a:spcPts val="1200"/>
              </a:spcAft>
              <a:defRPr sz="1100">
                <a:solidFill>
                  <a:srgbClr val="FFFCF5"/>
                </a:solidFill>
                <a:latin typeface="Segoe UI"/>
              </a:defRPr>
            </a:pPr>
            <a:r>
              <a:t>❖  LayerMask phân tầng va chạm rõ ràng.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33688" y="1554480"/>
            <a:ext cx="2542032" cy="4754880"/>
          </a:xfrm>
          <a:prstGeom prst="roundRect">
            <a:avLst/>
          </a:prstGeom>
          <a:solidFill>
            <a:srgbClr val="221811"/>
          </a:solidFill>
          <a:ln w="15240">
            <a:solidFill>
              <a:srgbClr val="EB41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9043416" y="1691640"/>
            <a:ext cx="2322576" cy="804672"/>
          </a:xfrm>
          <a:prstGeom prst="rect">
            <a:avLst/>
          </a:prstGeom>
          <a:solidFill>
            <a:srgbClr val="302218"/>
          </a:solidFill>
          <a:ln w="12700">
            <a:solidFill>
              <a:srgbClr val="EB41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070848" y="1737360"/>
            <a:ext cx="226771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EB4132"/>
                </a:solidFill>
                <a:latin typeface="Segoe UI"/>
              </a:defRPr>
            </a:pPr>
            <a:r>
              <a:t>GRAPHICS &amp; VFX</a:t>
            </a:r>
          </a:p>
          <a:p>
            <a:pPr>
              <a:defRPr sz="950">
                <a:solidFill>
                  <a:srgbClr val="B9AA9B"/>
                </a:solidFill>
                <a:latin typeface="Segoe UI"/>
              </a:defRPr>
            </a:pPr>
            <a:r>
              <a:t>Particle &amp; Visual Juice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70848" y="2697480"/>
            <a:ext cx="2267712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>
                <a:solidFill>
                  <a:srgbClr val="FFFCF5"/>
                </a:solidFill>
                <a:latin typeface="Segoe UI"/>
              </a:defRPr>
            </a:pPr>
            <a:r>
              <a:t>❖  TrailRenderer tạo vệt kiếm phát sáng.</a:t>
            </a:r>
          </a:p>
          <a:p>
            <a:pPr>
              <a:spcAft>
                <a:spcPts val="1200"/>
              </a:spcAft>
              <a:defRPr sz="1100">
                <a:solidFill>
                  <a:srgbClr val="FFFCF5"/>
                </a:solidFill>
                <a:latin typeface="Segoe UI"/>
              </a:defRPr>
            </a:pPr>
            <a:r>
              <a:t>❖  Particle System tung tóe nước ép trái cây.</a:t>
            </a:r>
          </a:p>
          <a:p>
            <a:pPr>
              <a:spcAft>
                <a:spcPts val="1200"/>
              </a:spcAft>
              <a:defRPr sz="1100">
                <a:solidFill>
                  <a:srgbClr val="FFFCF5"/>
                </a:solidFill>
                <a:latin typeface="Segoe UI"/>
              </a:defRPr>
            </a:pPr>
            <a:r>
              <a:t>❖  Camera Shake tạo rung chấn khi nổ bom.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0E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CC6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E09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656539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917D69"/>
                </a:solidFill>
                <a:latin typeface="Segoe UI"/>
              </a:defRPr>
            </a:pPr>
            <a:r>
              <a:t>FRUIT NINJA – GAME ĐÀO VÀNG 2D  •  ĐỒ ÁN PHÁT TRIỂN GAME 2D CNTT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565392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>
                <a:solidFill>
                  <a:srgbClr val="FCC64B"/>
                </a:solidFill>
                <a:latin typeface="Segoe UI"/>
              </a:defRPr>
            </a:pPr>
            <a:r>
              <a:t>Slide 5 /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2004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FCC64B"/>
                </a:solidFill>
                <a:latin typeface="Segoe UI"/>
              </a:defRPr>
            </a:pPr>
            <a:r>
              <a:t>★  04. THIẾT KẾ PHẦN MỀM  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94360"/>
            <a:ext cx="105156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300" b="1">
                <a:solidFill>
                  <a:srgbClr val="FFFCF5"/>
                </a:solidFill>
                <a:latin typeface="Segoe UI"/>
              </a:defRPr>
            </a:pPr>
            <a:r>
              <a:t>KIẾN TRÚC HỆ THỐNG &amp; THIẾT KẾ CÁC MODULE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115568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>
                <a:solidFill>
                  <a:srgbClr val="B9AA9B"/>
                </a:solidFill>
                <a:latin typeface="Segoe UI"/>
              </a:defRPr>
            </a:pPr>
            <a:r>
              <a:t>Cấu trúc Component-Based kết hợp Singleton Pattern giúp code sáng sủa, độc lập và dễ bảo trì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554480"/>
            <a:ext cx="4297680" cy="4754880"/>
          </a:xfrm>
          <a:prstGeom prst="roundRect">
            <a:avLst/>
          </a:prstGeom>
          <a:solidFill>
            <a:srgbClr val="221811"/>
          </a:solidFill>
          <a:ln w="15240">
            <a:solidFill>
              <a:srgbClr val="DCA8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14400" y="1691640"/>
            <a:ext cx="3931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FCC64B"/>
                </a:solidFill>
              </a:defRPr>
            </a:pPr>
            <a:r>
              <a:t>🏛️ HỆ THỐNG CÁC MODULE CHÍNH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2148840"/>
            <a:ext cx="3931920" cy="576072"/>
          </a:xfrm>
          <a:prstGeom prst="roundRect">
            <a:avLst/>
          </a:prstGeom>
          <a:solidFill>
            <a:srgbClr val="302218"/>
          </a:solidFill>
          <a:ln w="12700">
            <a:solidFill>
              <a:srgbClr val="FCC6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51560" y="2185416"/>
            <a:ext cx="3657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CC64B"/>
                </a:solidFill>
              </a:defRPr>
            </a:pPr>
            <a:r>
              <a:t>★ GameManager</a:t>
            </a:r>
          </a:p>
          <a:p>
            <a:pPr>
              <a:defRPr sz="950">
                <a:solidFill>
                  <a:srgbClr val="B9AA9B"/>
                </a:solidFill>
              </a:defRPr>
            </a:pPr>
            <a:r>
              <a:t>Điều phối Game State, Mạng sống, Reset ván đấu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2816352"/>
            <a:ext cx="3931920" cy="576072"/>
          </a:xfrm>
          <a:prstGeom prst="roundRect">
            <a:avLst/>
          </a:prstGeom>
          <a:solidFill>
            <a:srgbClr val="302218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51560" y="2852928"/>
            <a:ext cx="3657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ECC71"/>
                </a:solidFill>
              </a:defRPr>
            </a:pPr>
            <a:r>
              <a:t>★ ScoreManager</a:t>
            </a:r>
          </a:p>
          <a:p>
            <a:pPr>
              <a:defRPr sz="950">
                <a:solidFill>
                  <a:srgbClr val="B9AA9B"/>
                </a:solidFill>
              </a:defRPr>
            </a:pPr>
            <a:r>
              <a:t>Lưu trữ Điểm số, Combo Streak, High Score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3483864"/>
            <a:ext cx="3931920" cy="576072"/>
          </a:xfrm>
          <a:prstGeom prst="roundRect">
            <a:avLst/>
          </a:prstGeom>
          <a:solidFill>
            <a:srgbClr val="302218"/>
          </a:solidFill>
          <a:ln w="127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51560" y="3520440"/>
            <a:ext cx="3657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39C12"/>
                </a:solidFill>
              </a:defRPr>
            </a:pPr>
            <a:r>
              <a:t>★ UIManager</a:t>
            </a:r>
          </a:p>
          <a:p>
            <a:pPr>
              <a:defRPr sz="950">
                <a:solidFill>
                  <a:srgbClr val="B9AA9B"/>
                </a:solidFill>
              </a:defRPr>
            </a:pPr>
            <a:r>
              <a:t>Cập nhật HUD, Màn hình Menu, Game Over modal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4151376"/>
            <a:ext cx="3931920" cy="576072"/>
          </a:xfrm>
          <a:prstGeom prst="roundRect">
            <a:avLst/>
          </a:prstGeom>
          <a:solidFill>
            <a:srgbClr val="302218"/>
          </a:solidFill>
          <a:ln w="12700">
            <a:solidFill>
              <a:srgbClr val="FFFC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51560" y="4187952"/>
            <a:ext cx="3657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FFCF5"/>
                </a:solidFill>
              </a:defRPr>
            </a:pPr>
            <a:r>
              <a:t>★ FruitSpawner</a:t>
            </a:r>
          </a:p>
          <a:p>
            <a:pPr>
              <a:defRPr sz="950">
                <a:solidFill>
                  <a:srgbClr val="B9AA9B"/>
                </a:solidFill>
              </a:defRPr>
            </a:pPr>
            <a:r>
              <a:t>Tính toán nhịp bắn, góc xiên &amp; lực đẩy Parabol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" y="4818888"/>
            <a:ext cx="3931920" cy="576072"/>
          </a:xfrm>
          <a:prstGeom prst="roundRect">
            <a:avLst/>
          </a:prstGeom>
          <a:solidFill>
            <a:srgbClr val="302218"/>
          </a:solidFill>
          <a:ln w="127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051560" y="4855464"/>
            <a:ext cx="3657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498DB"/>
                </a:solidFill>
              </a:defRPr>
            </a:pPr>
            <a:r>
              <a:t>★ BladeController</a:t>
            </a:r>
          </a:p>
          <a:p>
            <a:pPr>
              <a:defRPr sz="950">
                <a:solidFill>
                  <a:srgbClr val="B9AA9B"/>
                </a:solidFill>
              </a:defRPr>
            </a:pPr>
            <a:r>
              <a:t>Bắt tọa độ vuốt chuột, tính vận tốc &amp; Raycast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4400" y="5486400"/>
            <a:ext cx="3931920" cy="576072"/>
          </a:xfrm>
          <a:prstGeom prst="roundRect">
            <a:avLst/>
          </a:prstGeom>
          <a:solidFill>
            <a:srgbClr val="302218"/>
          </a:solidFill>
          <a:ln w="12700">
            <a:solidFill>
              <a:srgbClr val="EB41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51560" y="5522976"/>
            <a:ext cx="3657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EB4132"/>
                </a:solidFill>
              </a:defRPr>
            </a:pPr>
            <a:r>
              <a:t>★ ObjectPool</a:t>
            </a:r>
          </a:p>
          <a:p>
            <a:pPr>
              <a:defRPr sz="950">
                <a:solidFill>
                  <a:srgbClr val="B9AA9B"/>
                </a:solidFill>
              </a:defRPr>
            </a:pPr>
            <a:r>
              <a:t>Kho tái sử dụng đối tượng Fruit, Half &amp; Bomb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257800" y="1554480"/>
            <a:ext cx="6199632" cy="1490472"/>
          </a:xfrm>
          <a:prstGeom prst="roundRect">
            <a:avLst/>
          </a:prstGeom>
          <a:solidFill>
            <a:srgbClr val="221811"/>
          </a:solidFill>
          <a:ln w="15240">
            <a:solidFill>
              <a:srgbClr val="FCC6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440680" y="1627632"/>
            <a:ext cx="5852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FCC64B"/>
                </a:solidFill>
              </a:defRPr>
            </a:pPr>
            <a:r>
              <a:t>MẪU THIẾT KẾ SINGLETON (SINGLETON PATTERN)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40680" y="1901952"/>
            <a:ext cx="585216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050" b="1">
                <a:solidFill>
                  <a:srgbClr val="FFFCF5"/>
                </a:solidFill>
              </a:rPr>
              <a:t>✔ Một thực thể duy nhất: </a:t>
            </a:r>
            <a:r>
              <a:rPr sz="1050">
                <a:solidFill>
                  <a:srgbClr val="B9AA9B"/>
                </a:solidFill>
              </a:rPr>
              <a:t>GameManager, ScoreManager luôn duy trì 1 instance.</a:t>
            </a:r>
          </a:p>
          <a:p>
            <a:pPr>
              <a:spcAft>
                <a:spcPts val="200"/>
              </a:spcAft>
            </a:pPr>
            <a:r>
              <a:rPr sz="1050" b="1">
                <a:solidFill>
                  <a:srgbClr val="FFFCF5"/>
                </a:solidFill>
              </a:rPr>
              <a:t>✔ Truy cập thuận tiện: </a:t>
            </a:r>
            <a:r>
              <a:rPr sz="1050">
                <a:solidFill>
                  <a:srgbClr val="B9AA9B"/>
                </a:solidFill>
              </a:rPr>
              <a:t>Gọi trực tiếp `GameManager.Instance` không cần Inspector.</a:t>
            </a:r>
          </a:p>
          <a:p>
            <a:pPr>
              <a:spcAft>
                <a:spcPts val="200"/>
              </a:spcAft>
            </a:pPr>
            <a:r>
              <a:rPr sz="1050" b="1">
                <a:solidFill>
                  <a:srgbClr val="FFFCF5"/>
                </a:solidFill>
              </a:rPr>
              <a:t>✔ Bảo toàn dữ liệu: </a:t>
            </a:r>
            <a:r>
              <a:rPr sz="1050">
                <a:solidFill>
                  <a:srgbClr val="B9AA9B"/>
                </a:solidFill>
              </a:rPr>
              <a:t>Điểm số và kỷ lục được bảo lưu an toàn qua các lần chơi lại.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257800" y="3163824"/>
            <a:ext cx="6199632" cy="1490472"/>
          </a:xfrm>
          <a:prstGeom prst="roundRect">
            <a:avLst/>
          </a:prstGeom>
          <a:solidFill>
            <a:srgbClr val="221811"/>
          </a:solidFill>
          <a:ln w="1524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440680" y="3236976"/>
            <a:ext cx="5852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F39C12"/>
                </a:solidFill>
              </a:defRPr>
            </a:pPr>
            <a:r>
              <a:t>GIAO TIẾP EVENT-DRIVEN &amp; LOOSE COUPLING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40680" y="3511296"/>
            <a:ext cx="585216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050" b="1">
                <a:solidFill>
                  <a:srgbClr val="FFFCF5"/>
                </a:solidFill>
              </a:rPr>
              <a:t>✔ Tách biệt logic: </a:t>
            </a:r>
            <a:r>
              <a:rPr sz="1050">
                <a:solidFill>
                  <a:srgbClr val="B9AA9B"/>
                </a:solidFill>
              </a:rPr>
              <a:t>Logic tính điểm hoàn toàn độc lập với việc vẽ text UI.</a:t>
            </a:r>
          </a:p>
          <a:p>
            <a:pPr>
              <a:spcAft>
                <a:spcPts val="200"/>
              </a:spcAft>
            </a:pPr>
            <a:r>
              <a:rPr sz="1050" b="1">
                <a:solidFill>
                  <a:srgbClr val="FFFCF5"/>
                </a:solidFill>
              </a:rPr>
              <a:t>✔ Phản hồi thời gian thực: </a:t>
            </a:r>
            <a:r>
              <a:rPr sz="1050">
                <a:solidFill>
                  <a:srgbClr val="B9AA9B"/>
                </a:solidFill>
              </a:rPr>
              <a:t>Khi chém quả, Event kích hoạt đồng thời ScoreManager và VFX.</a:t>
            </a:r>
          </a:p>
          <a:p>
            <a:pPr>
              <a:spcAft>
                <a:spcPts val="200"/>
              </a:spcAft>
            </a:pPr>
            <a:r>
              <a:rPr sz="1050" b="1">
                <a:solidFill>
                  <a:srgbClr val="FFFCF5"/>
                </a:solidFill>
              </a:rPr>
              <a:t>✔ Dễ mở rộng: </a:t>
            </a:r>
            <a:r>
              <a:rPr sz="1050">
                <a:solidFill>
                  <a:srgbClr val="B9AA9B"/>
                </a:solidFill>
              </a:rPr>
              <a:t>Thêm âm thanh hoặc hiệu ứng mới mà không cần sửa code cũ.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257800" y="4773168"/>
            <a:ext cx="6199632" cy="1490472"/>
          </a:xfrm>
          <a:prstGeom prst="roundRect">
            <a:avLst/>
          </a:prstGeom>
          <a:solidFill>
            <a:srgbClr val="221811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440680" y="4846320"/>
            <a:ext cx="5852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2ECC71"/>
                </a:solidFill>
              </a:defRPr>
            </a:pPr>
            <a:r>
              <a:t>QUẢN LÝ VÒNG ĐỜI GAME LOOP (STATE 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40680" y="5120640"/>
            <a:ext cx="585216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050" b="1">
                <a:solidFill>
                  <a:srgbClr val="FFFCF5"/>
                </a:solidFill>
              </a:rPr>
              <a:t>✔ Trạng thái rõ ràng: </a:t>
            </a:r>
            <a:r>
              <a:rPr sz="1050">
                <a:solidFill>
                  <a:srgbClr val="B9AA9B"/>
                </a:solidFill>
              </a:rPr>
              <a:t>Quản lý luồng mạch lạc: Menu -&gt; Playing -&gt; Paused -&gt; GameOver.</a:t>
            </a:r>
          </a:p>
          <a:p>
            <a:pPr>
              <a:spcAft>
                <a:spcPts val="200"/>
              </a:spcAft>
            </a:pPr>
            <a:r>
              <a:rPr sz="1050" b="1">
                <a:solidFill>
                  <a:srgbClr val="FFFCF5"/>
                </a:solidFill>
              </a:rPr>
              <a:t>✔ Kiểm soát TimeScale: </a:t>
            </a:r>
            <a:r>
              <a:rPr sz="1050">
                <a:solidFill>
                  <a:srgbClr val="B9AA9B"/>
                </a:solidFill>
              </a:rPr>
              <a:t>Đóng băng `Time.timeScale = 0` mượt mà khi kết thúc game.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0E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CC6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E09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656539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917D69"/>
                </a:solidFill>
                <a:latin typeface="Segoe UI"/>
              </a:defRPr>
            </a:pPr>
            <a:r>
              <a:t>FRUIT NINJA – GAME ĐÀO VÀNG 2D  •  ĐỒ ÁN PHÁT TRIỂN GAME 2D CNTT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565392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>
                <a:solidFill>
                  <a:srgbClr val="FCC64B"/>
                </a:solidFill>
                <a:latin typeface="Segoe UI"/>
              </a:defRPr>
            </a:pPr>
            <a:r>
              <a:t>Slide 6 /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2004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FCC64B"/>
                </a:solidFill>
                <a:latin typeface="Segoe UI"/>
              </a:defRPr>
            </a:pPr>
            <a:r>
              <a:t>★  05. THUẬT TOÁN CỐT LÕI  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94360"/>
            <a:ext cx="105156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300" b="1">
                <a:solidFill>
                  <a:srgbClr val="FFFCF5"/>
                </a:solidFill>
                <a:latin typeface="Segoe UI"/>
              </a:defRPr>
            </a:pPr>
            <a:r>
              <a:t>KỸ THUẬT VẾT CHÉM &amp; PHÂN TÁCH HOA QUẢ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115568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>
                <a:solidFill>
                  <a:srgbClr val="B9AA9B"/>
                </a:solidFill>
                <a:latin typeface="Segoe UI"/>
              </a:defRPr>
            </a:pPr>
            <a:r>
              <a:t>Kết hợp tính toán hình học Vector2, Linecast 2D và phản hồi vật lý Rigidbody sống động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554480"/>
            <a:ext cx="3328416" cy="4754880"/>
          </a:xfrm>
          <a:prstGeom prst="roundRect">
            <a:avLst/>
          </a:prstGeom>
          <a:solidFill>
            <a:srgbClr val="221811"/>
          </a:solidFill>
          <a:ln w="15240">
            <a:solidFill>
              <a:srgbClr val="FCC6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868680" y="1691640"/>
            <a:ext cx="3054096" cy="685800"/>
          </a:xfrm>
          <a:prstGeom prst="roundRect">
            <a:avLst/>
          </a:prstGeom>
          <a:solidFill>
            <a:srgbClr val="302218"/>
          </a:solidFill>
          <a:ln w="12700">
            <a:solidFill>
              <a:srgbClr val="FCC6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14400" y="1737360"/>
            <a:ext cx="2962656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CC64B"/>
                </a:solidFill>
              </a:defRPr>
            </a:pPr>
            <a:r>
              <a:t>BƯỚC 01 • NHẬN DIỆN VẾT CHÉM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2514600"/>
            <a:ext cx="2999232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100" b="1">
                <a:solidFill>
                  <a:srgbClr val="FFFCF5"/>
                </a:solidFill>
              </a:rPr>
              <a:t>❖ Tọa độ chuột liên tục: </a:t>
            </a:r>
            <a:r>
              <a:rPr sz="1050">
                <a:solidFill>
                  <a:srgbClr val="B9AA9B"/>
                </a:solidFill>
              </a:rPr>
              <a:t>Cập nhật liên tục giữa `previousPos` và `currentPos`.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FFFCF5"/>
                </a:solidFill>
              </a:rPr>
              <a:t>❖ Ngưỡng Min Velocity: </a:t>
            </a:r>
            <a:r>
              <a:rPr sz="1050">
                <a:solidFill>
                  <a:srgbClr val="B9AA9B"/>
                </a:solidFill>
              </a:rPr>
              <a:t>Chỉ kích hoạt khi tốc độ quẹt đạt ngưỡng cho phép.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FFFCF5"/>
                </a:solidFill>
              </a:rPr>
              <a:t>❖ Physics2D.Linecast: </a:t>
            </a:r>
            <a:r>
              <a:rPr sz="1050">
                <a:solidFill>
                  <a:srgbClr val="B9AA9B"/>
                </a:solidFill>
              </a:rPr>
              <a:t>Bắn tia kiểm tra va chạm giữa 2 điểm chuột và Collider quả.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FFFCF5"/>
                </a:solidFill>
              </a:rPr>
              <a:t>❖ Bộ lọc HashSet: </a:t>
            </a:r>
            <a:r>
              <a:rPr sz="1050">
                <a:solidFill>
                  <a:srgbClr val="B9AA9B"/>
                </a:solidFill>
              </a:rPr>
              <a:t>Đảm bảo mỗi nhát chém chỉ gây sát thương 1 lần trên mỗi quả.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25696" y="1554480"/>
            <a:ext cx="3328416" cy="4754880"/>
          </a:xfrm>
          <a:prstGeom prst="roundRect">
            <a:avLst/>
          </a:prstGeom>
          <a:solidFill>
            <a:srgbClr val="221811"/>
          </a:solidFill>
          <a:ln w="1524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4562856" y="1691640"/>
            <a:ext cx="3054096" cy="685800"/>
          </a:xfrm>
          <a:prstGeom prst="roundRect">
            <a:avLst/>
          </a:prstGeom>
          <a:solidFill>
            <a:srgbClr val="302218"/>
          </a:solidFill>
          <a:ln w="127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608576" y="1737360"/>
            <a:ext cx="2962656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39C12"/>
                </a:solidFill>
              </a:defRPr>
            </a:pPr>
            <a:r>
              <a:t>BƯỚC 02 • PHÂN TÁCH FRUITHALF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90288" y="2514600"/>
            <a:ext cx="2999232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100" b="1">
                <a:solidFill>
                  <a:srgbClr val="FFFCF5"/>
                </a:solidFill>
              </a:rPr>
              <a:t>❖ Ẩn quả nguyên vẹn: </a:t>
            </a:r>
            <a:r>
              <a:rPr sz="1050">
                <a:solidFill>
                  <a:srgbClr val="B9AA9B"/>
                </a:solidFill>
              </a:rPr>
              <a:t>Quả nguyên lập tức ẩn đi (`SetActive: false`) và về Pool.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FFFCF5"/>
                </a:solidFill>
              </a:rPr>
              <a:t>❖ Kích hoạt 2 nửa quả: </a:t>
            </a:r>
            <a:r>
              <a:rPr sz="1050">
                <a:solidFill>
                  <a:srgbClr val="B9AA9B"/>
                </a:solidFill>
              </a:rPr>
              <a:t>Lấy 2 nửa FruitHalf tương ứng từ Object Pool ra.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FFFCF5"/>
                </a:solidFill>
              </a:rPr>
              <a:t>❖ Lực đẩy trái chiều: </a:t>
            </a:r>
            <a:r>
              <a:rPr sz="1050">
                <a:solidFill>
                  <a:srgbClr val="B9AA9B"/>
                </a:solidFill>
              </a:rPr>
              <a:t>Gán vận tốc nảy: Nửa trái bay sang -X, nửa phải sang +X.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FFFCF5"/>
                </a:solidFill>
              </a:rPr>
              <a:t>❖ Thêm momen xoắn: </a:t>
            </a:r>
            <a:r>
              <a:rPr sz="1050">
                <a:solidFill>
                  <a:srgbClr val="B9AA9B"/>
                </a:solidFill>
              </a:rPr>
              <a:t>Hàm `AddTorque` ngẫu nhiên giúp 2 mảnh vừa rơi vừa xoay tròn.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19872" y="1554480"/>
            <a:ext cx="3328416" cy="4754880"/>
          </a:xfrm>
          <a:prstGeom prst="roundRect">
            <a:avLst/>
          </a:prstGeom>
          <a:solidFill>
            <a:srgbClr val="221811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8257032" y="1691640"/>
            <a:ext cx="3054096" cy="685800"/>
          </a:xfrm>
          <a:prstGeom prst="roundRect">
            <a:avLst/>
          </a:prstGeom>
          <a:solidFill>
            <a:srgbClr val="302218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302752" y="1737360"/>
            <a:ext cx="2962656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ECC71"/>
                </a:solidFill>
              </a:defRPr>
            </a:pPr>
            <a:r>
              <a:t>BƯỚC 03 • HIỆU ỨNG JUICE &amp; GAME FEEL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84464" y="2514600"/>
            <a:ext cx="2999232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100" b="1">
                <a:solidFill>
                  <a:srgbClr val="FFFCF5"/>
                </a:solidFill>
              </a:rPr>
              <a:t>❖ TrailRenderer sáng: </a:t>
            </a:r>
            <a:r>
              <a:rPr sz="1050">
                <a:solidFill>
                  <a:srgbClr val="B9AA9B"/>
                </a:solidFill>
              </a:rPr>
              <a:t>Vệt kiếm sáng trắng co đuôi dần mượt mà trong 0.15s.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FFFCF5"/>
                </a:solidFill>
              </a:rPr>
              <a:t>❖ Splash Juice Particles: </a:t>
            </a:r>
            <a:r>
              <a:rPr sz="1050">
                <a:solidFill>
                  <a:srgbClr val="B9AA9B"/>
                </a:solidFill>
              </a:rPr>
              <a:t>Tung hạt nước ép màu sắc đặc trưng tại vị trí nhát cắt.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FFFCF5"/>
                </a:solidFill>
              </a:rPr>
              <a:t>❖ Camera Shake kịch tính: </a:t>
            </a:r>
            <a:r>
              <a:rPr sz="1050">
                <a:solidFill>
                  <a:srgbClr val="B9AA9B"/>
                </a:solidFill>
              </a:rPr>
              <a:t>Rung nhẹ màn hình tạo cảm giác chém đứt ngọt lịm.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FFFCF5"/>
                </a:solidFill>
              </a:rPr>
              <a:t>❖ Âm thanh sảng khoái: </a:t>
            </a:r>
            <a:r>
              <a:rPr sz="1050">
                <a:solidFill>
                  <a:srgbClr val="B9AA9B"/>
                </a:solidFill>
              </a:rPr>
              <a:t>Phát Sound Effect 'xoẹt' tức thì khi va chạm xảy ra.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0E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CC6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E09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656539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917D69"/>
                </a:solidFill>
                <a:latin typeface="Segoe UI"/>
              </a:defRPr>
            </a:pPr>
            <a:r>
              <a:t>FRUIT NINJA – GAME ĐÀO VÀNG 2D  •  ĐỒ ÁN PHÁT TRIỂN GAME 2D CNTT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565392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>
                <a:solidFill>
                  <a:srgbClr val="FCC64B"/>
                </a:solidFill>
                <a:latin typeface="Segoe UI"/>
              </a:defRPr>
            </a:pPr>
            <a:r>
              <a:t>Slide 7 /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2004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FCC64B"/>
                </a:solidFill>
                <a:latin typeface="Segoe UI"/>
              </a:defRPr>
            </a:pPr>
            <a:r>
              <a:t>★  06. TỐI ƯU HÓA HIỆU NĂNG  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94360"/>
            <a:ext cx="105156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300" b="1">
                <a:solidFill>
                  <a:srgbClr val="FFFCF5"/>
                </a:solidFill>
                <a:latin typeface="Segoe UI"/>
              </a:defRPr>
            </a:pPr>
            <a:r>
              <a:t>TỐI ƯU HIỆU NĂNG VỚI KỸ THUẬT OBJECT POOLING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115568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>
                <a:solidFill>
                  <a:srgbClr val="B9AA9B"/>
                </a:solidFill>
                <a:latin typeface="Segoe UI"/>
              </a:defRPr>
            </a:pPr>
            <a:r>
              <a:t>Triệt tiêu hiện tượng nghẽn bộ nhớ và sụt giảm khung hình, duy trì 60+ FPS ổn định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554480"/>
            <a:ext cx="5257800" cy="3291840"/>
          </a:xfrm>
          <a:prstGeom prst="roundRect">
            <a:avLst/>
          </a:prstGeom>
          <a:solidFill>
            <a:srgbClr val="221811"/>
          </a:solidFill>
          <a:ln w="15240">
            <a:solidFill>
              <a:srgbClr val="EB41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60120" y="1691640"/>
            <a:ext cx="4800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EB4132"/>
                </a:solidFill>
              </a:defRPr>
            </a:pPr>
            <a:r>
              <a:t>❌ CÁCH TRUYỀN THỐNG (KHÔNG DÙNG POOL)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148840"/>
            <a:ext cx="48006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FFFCF5"/>
                </a:solidFill>
              </a:rPr>
              <a:t>✖ Gọi Instantiate / Destroy liên tục: </a:t>
            </a:r>
            <a:r>
              <a:rPr sz="1050">
                <a:solidFill>
                  <a:srgbClr val="B9AA9B"/>
                </a:solidFill>
              </a:rPr>
              <a:t>Mỗi quả sinh ra và biến mất tạo vùng nhớ rác mới.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FFFCF5"/>
                </a:solidFill>
              </a:rPr>
              <a:t>✖ Phân mảnh RAM nghiêm trọng: </a:t>
            </a:r>
            <a:r>
              <a:rPr sz="1050">
                <a:solidFill>
                  <a:srgbClr val="B9AA9B"/>
                </a:solidFill>
              </a:rPr>
              <a:t>Hệ điều hành liên tục phải cấp phát &amp; thu hồi ô nhớ.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FFFCF5"/>
                </a:solidFill>
              </a:rPr>
              <a:t>✖ Garbage Collector Spike: </a:t>
            </a:r>
            <a:r>
              <a:rPr sz="1050">
                <a:solidFill>
                  <a:srgbClr val="B9AA9B"/>
                </a:solidFill>
              </a:rPr>
              <a:t>Bộ dọn rác bất ngờ dừng luồng game để dọn RAM rác.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FFFCF5"/>
                </a:solidFill>
              </a:rPr>
              <a:t>✖ Hậu quả trực tiếp: </a:t>
            </a:r>
            <a:r>
              <a:rPr sz="1050">
                <a:solidFill>
                  <a:srgbClr val="B9AA9B"/>
                </a:solidFill>
              </a:rPr>
              <a:t>Sụt FPS nghiêm trọng, khựng hình (stuttering) khi chém dồn.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9632" y="1554480"/>
            <a:ext cx="5257800" cy="3291840"/>
          </a:xfrm>
          <a:prstGeom prst="roundRect">
            <a:avLst/>
          </a:prstGeom>
          <a:solidFill>
            <a:srgbClr val="221811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28232" y="1691640"/>
            <a:ext cx="4800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2ECC71"/>
                </a:solidFill>
              </a:defRPr>
            </a:pPr>
            <a:r>
              <a:t>✔ GIẢI PHÁP OBJECT POOLING (ÁP DỤNG)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28232" y="2148840"/>
            <a:ext cx="48006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FFFCF5"/>
                </a:solidFill>
              </a:rPr>
              <a:t>★ Khởi tạo sẵn một lần: </a:t>
            </a:r>
            <a:r>
              <a:rPr sz="1050">
                <a:solidFill>
                  <a:srgbClr val="B9AA9B"/>
                </a:solidFill>
              </a:rPr>
              <a:t>Nạp sẵn kho đối tượng Fruit, Half &amp; Bomb ngay từ Awake.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FFFCF5"/>
                </a:solidFill>
              </a:rPr>
              <a:t>★ Tái chế tức thời (Recycle): </a:t>
            </a:r>
            <a:r>
              <a:rPr sz="1050">
                <a:solidFill>
                  <a:srgbClr val="B9AA9B"/>
                </a:solidFill>
              </a:rPr>
              <a:t>Bật `SetActive(true)` khi bắn, tắt `SetActive(false)` khi chém.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FFFCF5"/>
                </a:solidFill>
              </a:rPr>
              <a:t>★ Không sinh rác bộ nhớ: </a:t>
            </a:r>
            <a:r>
              <a:rPr sz="1050">
                <a:solidFill>
                  <a:srgbClr val="B9AA9B"/>
                </a:solidFill>
              </a:rPr>
              <a:t>Số Object trong RAM cố định, GC Allocation đạt mức ~0 byte.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FFFCF5"/>
                </a:solidFill>
              </a:rPr>
              <a:t>★ Kết quả đạt được: </a:t>
            </a:r>
            <a:r>
              <a:rPr sz="1050">
                <a:solidFill>
                  <a:srgbClr val="B9AA9B"/>
                </a:solidFill>
              </a:rPr>
              <a:t>Duy trì ổn định 60+ FPS, gameplay mượt mà trên mọi máy tính.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029200"/>
            <a:ext cx="3328416" cy="1234440"/>
          </a:xfrm>
          <a:prstGeom prst="roundRect">
            <a:avLst/>
          </a:prstGeom>
          <a:solidFill>
            <a:srgbClr val="302218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2960" y="5138928"/>
            <a:ext cx="3145536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2ECC71"/>
                </a:solidFill>
              </a:defRPr>
            </a:pPr>
            <a:r>
              <a:t>60+ FPS</a:t>
            </a:r>
          </a:p>
          <a:p>
            <a:pPr algn="ctr">
              <a:defRPr sz="1100">
                <a:solidFill>
                  <a:srgbClr val="EBE4DA"/>
                </a:solidFill>
              </a:defRPr>
            </a:pPr>
            <a:r>
              <a:t>Khung hình luôn mượt mà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25696" y="5029200"/>
            <a:ext cx="3328416" cy="1234440"/>
          </a:xfrm>
          <a:prstGeom prst="roundRect">
            <a:avLst/>
          </a:prstGeom>
          <a:solidFill>
            <a:srgbClr val="302218"/>
          </a:solidFill>
          <a:ln w="15240">
            <a:solidFill>
              <a:srgbClr val="FCC6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17136" y="5138928"/>
            <a:ext cx="3145536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FCC64B"/>
                </a:solidFill>
              </a:defRPr>
            </a:pPr>
            <a:r>
              <a:t>~0 ms</a:t>
            </a:r>
          </a:p>
          <a:p>
            <a:pPr algn="ctr">
              <a:defRPr sz="1100">
                <a:solidFill>
                  <a:srgbClr val="EBE4DA"/>
                </a:solidFill>
              </a:defRPr>
            </a:pPr>
            <a:r>
              <a:t>Thời gian dừng chờ Garbage Collector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19872" y="5029200"/>
            <a:ext cx="3328416" cy="1234440"/>
          </a:xfrm>
          <a:prstGeom prst="roundRect">
            <a:avLst/>
          </a:prstGeom>
          <a:solidFill>
            <a:srgbClr val="302218"/>
          </a:solidFill>
          <a:ln w="1524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211312" y="5138928"/>
            <a:ext cx="3145536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F39C12"/>
                </a:solidFill>
              </a:defRPr>
            </a:pPr>
            <a:r>
              <a:t>-40% CPU</a:t>
            </a:r>
          </a:p>
          <a:p>
            <a:pPr algn="ctr">
              <a:defRPr sz="1100">
                <a:solidFill>
                  <a:srgbClr val="EBE4DA"/>
                </a:solidFill>
              </a:defRPr>
            </a:pPr>
            <a:r>
              <a:t>Tiết kiệm tài nguyên xử lý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0E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CC6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E09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656539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917D69"/>
                </a:solidFill>
                <a:latin typeface="Segoe UI"/>
              </a:defRPr>
            </a:pPr>
            <a:r>
              <a:t>FRUIT NINJA – GAME ĐÀO VÀNG 2D  •  ĐỒ ÁN PHÁT TRIỂN GAME 2D CNTT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565392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>
                <a:solidFill>
                  <a:srgbClr val="FCC64B"/>
                </a:solidFill>
                <a:latin typeface="Segoe UI"/>
              </a:defRPr>
            </a:pPr>
            <a:r>
              <a:t>Slide 8 /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2004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FCC64B"/>
                </a:solidFill>
                <a:latin typeface="Segoe UI"/>
              </a:defRPr>
            </a:pPr>
            <a:r>
              <a:t>★  07. HỆ THỐNG TIẾN TRÌNH  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94360"/>
            <a:ext cx="105156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300" b="1">
                <a:solidFill>
                  <a:srgbClr val="FFFCF5"/>
                </a:solidFill>
                <a:latin typeface="Segoe UI"/>
              </a:defRPr>
            </a:pPr>
            <a:r>
              <a:t>HỆ THỐNG ĐIỂM SỐ, COMBO STREAK &amp; KỶ LỤC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115568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>
                <a:solidFill>
                  <a:srgbClr val="B9AA9B"/>
                </a:solidFill>
                <a:latin typeface="Segoe UI"/>
              </a:defRPr>
            </a:pPr>
            <a:r>
              <a:t>Tạo động lực cạnh tranh, tăng tính lôi cuốn và thúc đẩy giá trị chơi lại nhiều lần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554480"/>
            <a:ext cx="3328416" cy="4754880"/>
          </a:xfrm>
          <a:prstGeom prst="roundRect">
            <a:avLst/>
          </a:prstGeom>
          <a:solidFill>
            <a:srgbClr val="221811"/>
          </a:solidFill>
          <a:ln w="15240">
            <a:solidFill>
              <a:srgbClr val="FCC6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868680" y="1691640"/>
            <a:ext cx="3054096" cy="685800"/>
          </a:xfrm>
          <a:prstGeom prst="roundRect">
            <a:avLst/>
          </a:prstGeom>
          <a:solidFill>
            <a:srgbClr val="302218"/>
          </a:solidFill>
          <a:ln w="12700">
            <a:solidFill>
              <a:srgbClr val="FCC6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14400" y="1737360"/>
            <a:ext cx="2962656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CC64B"/>
                </a:solidFill>
              </a:defRPr>
            </a:pPr>
            <a:r>
              <a:t>01 • ĐIỂM SỐ &amp; COMBO STREAK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2514600"/>
            <a:ext cx="2999232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 b="1">
                <a:solidFill>
                  <a:srgbClr val="FFFCF5"/>
                </a:solidFill>
              </a:rPr>
              <a:t>• Điểm chém cơ bản: </a:t>
            </a:r>
            <a:r>
              <a:rPr sz="1050">
                <a:solidFill>
                  <a:srgbClr val="B9AA9B"/>
                </a:solidFill>
              </a:rPr>
              <a:t>Mỗi quả hoa quả chém trúng cộng trực tiếp +1 Điểm.</a:t>
            </a:r>
          </a:p>
          <a:p>
            <a:pPr>
              <a:spcAft>
                <a:spcPts val="800"/>
              </a:spcAft>
            </a:pPr>
            <a:r>
              <a:rPr sz="1100" b="1">
                <a:solidFill>
                  <a:srgbClr val="FFFCF5"/>
                </a:solidFill>
              </a:rPr>
              <a:t>• Cơ chế Combo: </a:t>
            </a:r>
            <a:r>
              <a:rPr sz="1050">
                <a:solidFill>
                  <a:srgbClr val="B9AA9B"/>
                </a:solidFill>
              </a:rPr>
              <a:t>Chém từ 3 quả trở lên trong 1 đường quẹt chuột.</a:t>
            </a:r>
          </a:p>
          <a:p>
            <a:pPr>
              <a:spcAft>
                <a:spcPts val="800"/>
              </a:spcAft>
            </a:pPr>
            <a:r>
              <a:rPr sz="1100" b="1">
                <a:solidFill>
                  <a:srgbClr val="FFFCF5"/>
                </a:solidFill>
              </a:rPr>
              <a:t>• Cấp số nhân thưởng: </a:t>
            </a:r>
            <a:r>
              <a:rPr sz="1050">
                <a:solidFill>
                  <a:srgbClr val="B9AA9B"/>
                </a:solidFill>
              </a:rPr>
              <a:t>Điểm nhận = Số quả x Hệ số Combo thưởng.</a:t>
            </a:r>
          </a:p>
          <a:p>
            <a:pPr>
              <a:spcAft>
                <a:spcPts val="800"/>
              </a:spcAft>
            </a:pPr>
            <a:r>
              <a:rPr sz="1100" b="1">
                <a:solidFill>
                  <a:srgbClr val="FFFCF5"/>
                </a:solidFill>
              </a:rPr>
              <a:t>• Hiệu ứng thỏa mãn: </a:t>
            </a:r>
            <a:r>
              <a:rPr sz="1050">
                <a:solidFill>
                  <a:srgbClr val="B9AA9B"/>
                </a:solidFill>
              </a:rPr>
              <a:t>Hiện popup chữ COMBO khích lệ gom quả thông minh.</a:t>
            </a:r>
          </a:p>
        </p:txBody>
      </p:sp>
      <p:pic>
        <p:nvPicPr>
          <p:cNvPr id="14" name="Picture 13" descr="icon_troph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3240" y="5257800"/>
            <a:ext cx="777240" cy="77724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425696" y="1554480"/>
            <a:ext cx="3328416" cy="4754880"/>
          </a:xfrm>
          <a:prstGeom prst="roundRect">
            <a:avLst/>
          </a:prstGeom>
          <a:solidFill>
            <a:srgbClr val="221811"/>
          </a:solidFill>
          <a:ln w="15240">
            <a:solidFill>
              <a:srgbClr val="EB41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4562856" y="1691640"/>
            <a:ext cx="3054096" cy="685800"/>
          </a:xfrm>
          <a:prstGeom prst="roundRect">
            <a:avLst/>
          </a:prstGeom>
          <a:solidFill>
            <a:srgbClr val="302218"/>
          </a:solidFill>
          <a:ln w="12700">
            <a:solidFill>
              <a:srgbClr val="EB41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608576" y="1737360"/>
            <a:ext cx="2962656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EB4132"/>
                </a:solidFill>
              </a:defRPr>
            </a:pPr>
            <a:r>
              <a:t>02 • 3 TIM SINH MỆNH &amp; BẪY BOM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90288" y="2514600"/>
            <a:ext cx="2999232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 b="1">
                <a:solidFill>
                  <a:srgbClr val="FFFCF5"/>
                </a:solidFill>
              </a:rPr>
              <a:t>• Khởi đầu 3 Tim: </a:t>
            </a:r>
            <a:r>
              <a:rPr sz="1050">
                <a:solidFill>
                  <a:srgbClr val="B9AA9B"/>
                </a:solidFill>
              </a:rPr>
              <a:t>Hiển thị 3 biểu tượng Trái Tim ở thanh trạng thái.</a:t>
            </a:r>
          </a:p>
          <a:p>
            <a:pPr>
              <a:spcAft>
                <a:spcPts val="800"/>
              </a:spcAft>
            </a:pPr>
            <a:r>
              <a:rPr sz="1100" b="1">
                <a:solidFill>
                  <a:srgbClr val="FFFCF5"/>
                </a:solidFill>
              </a:rPr>
              <a:t>• Cơ chế tha bổng: </a:t>
            </a:r>
            <a:r>
              <a:rPr sz="1050">
                <a:solidFill>
                  <a:srgbClr val="B9AA9B"/>
                </a:solidFill>
              </a:rPr>
              <a:t>Quả rơi chạm đáy màn hình không bị trừ mạng.</a:t>
            </a:r>
          </a:p>
          <a:p>
            <a:pPr>
              <a:spcAft>
                <a:spcPts val="800"/>
              </a:spcAft>
            </a:pPr>
            <a:r>
              <a:rPr sz="1100" b="1">
                <a:solidFill>
                  <a:srgbClr val="FFFCF5"/>
                </a:solidFill>
              </a:rPr>
              <a:t>• Trừng phạt nghiêm khắc: </a:t>
            </a:r>
            <a:r>
              <a:rPr sz="1050">
                <a:solidFill>
                  <a:srgbClr val="B9AA9B"/>
                </a:solidFill>
              </a:rPr>
              <a:t>Chém phải bom nổ trừ ngay 1 Tim và rung màn hình.</a:t>
            </a:r>
          </a:p>
          <a:p>
            <a:pPr>
              <a:spcAft>
                <a:spcPts val="800"/>
              </a:spcAft>
            </a:pPr>
            <a:r>
              <a:rPr sz="1100" b="1">
                <a:solidFill>
                  <a:srgbClr val="FFFCF5"/>
                </a:solidFill>
              </a:rPr>
              <a:t>• Kết thúc ván đấu: </a:t>
            </a:r>
            <a:r>
              <a:rPr sz="1050">
                <a:solidFill>
                  <a:srgbClr val="B9AA9B"/>
                </a:solidFill>
              </a:rPr>
              <a:t>Mất hết 3 Tim trò chơi lập tức kích hoạt Game Over.</a:t>
            </a:r>
          </a:p>
        </p:txBody>
      </p:sp>
      <p:pic>
        <p:nvPicPr>
          <p:cNvPr id="19" name="Picture 18" descr="icon_he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7416" y="5257800"/>
            <a:ext cx="777240" cy="777240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8119872" y="1554480"/>
            <a:ext cx="3328416" cy="4754880"/>
          </a:xfrm>
          <a:prstGeom prst="roundRect">
            <a:avLst/>
          </a:prstGeom>
          <a:solidFill>
            <a:srgbClr val="221811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8257032" y="1691640"/>
            <a:ext cx="3054096" cy="685800"/>
          </a:xfrm>
          <a:prstGeom prst="roundRect">
            <a:avLst/>
          </a:prstGeom>
          <a:solidFill>
            <a:srgbClr val="302218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302752" y="1737360"/>
            <a:ext cx="2962656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ECC71"/>
                </a:solidFill>
              </a:defRPr>
            </a:pPr>
            <a:r>
              <a:t>03 • LƯU TRỮ KỶ LỤC (HIGH SCORE)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4464" y="2514600"/>
            <a:ext cx="2999232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 b="1">
                <a:solidFill>
                  <a:srgbClr val="FFFCF5"/>
                </a:solidFill>
              </a:rPr>
              <a:t>• Lưu trữ bền vững: </a:t>
            </a:r>
            <a:r>
              <a:rPr sz="1050">
                <a:solidFill>
                  <a:srgbClr val="B9AA9B"/>
                </a:solidFill>
              </a:rPr>
              <a:t>Ứng dụng cơ chế PlayerPrefs tiêu chuẩn của Unity.</a:t>
            </a:r>
          </a:p>
          <a:p>
            <a:pPr>
              <a:spcAft>
                <a:spcPts val="800"/>
              </a:spcAft>
            </a:pPr>
            <a:r>
              <a:rPr sz="1100" b="1">
                <a:solidFill>
                  <a:srgbClr val="FFFCF5"/>
                </a:solidFill>
              </a:rPr>
              <a:t>• Tự so sánh điểm: </a:t>
            </a:r>
            <a:r>
              <a:rPr sz="1050">
                <a:solidFill>
                  <a:srgbClr val="B9AA9B"/>
                </a:solidFill>
              </a:rPr>
              <a:t>Tự động so sánh điểm số sau mỗi ván với kỷ lục cũ.</a:t>
            </a:r>
          </a:p>
          <a:p>
            <a:pPr>
              <a:spcAft>
                <a:spcPts val="800"/>
              </a:spcAft>
            </a:pPr>
            <a:r>
              <a:rPr sz="1100" b="1">
                <a:solidFill>
                  <a:srgbClr val="FFFCF5"/>
                </a:solidFill>
              </a:rPr>
              <a:t>• Vinh danh kỷ lục: </a:t>
            </a:r>
            <a:r>
              <a:rPr sz="1050">
                <a:solidFill>
                  <a:srgbClr val="B9AA9B"/>
                </a:solidFill>
              </a:rPr>
              <a:t>Hiển thị huy hiệu 'NEW BEST SCORE!' khi phá kỷ lục.</a:t>
            </a:r>
          </a:p>
          <a:p>
            <a:pPr>
              <a:spcAft>
                <a:spcPts val="800"/>
              </a:spcAft>
            </a:pPr>
            <a:r>
              <a:rPr sz="1100" b="1">
                <a:solidFill>
                  <a:srgbClr val="FFFCF5"/>
                </a:solidFill>
              </a:rPr>
              <a:t>• Dữ liệu vĩnh viễn: </a:t>
            </a:r>
            <a:r>
              <a:rPr sz="1050">
                <a:solidFill>
                  <a:srgbClr val="B9AA9B"/>
                </a:solidFill>
              </a:rPr>
              <a:t>Kỷ lục được giữ nguyên ngay cả khi tắt mở lại game.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0E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CC6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E09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656539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917D69"/>
                </a:solidFill>
                <a:latin typeface="Segoe UI"/>
              </a:defRPr>
            </a:pPr>
            <a:r>
              <a:t>FRUIT NINJA – GAME ĐÀO VÀNG 2D  •  ĐỒ ÁN PHÁT TRIỂN GAME 2D CNTT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565392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>
                <a:solidFill>
                  <a:srgbClr val="FCC64B"/>
                </a:solidFill>
                <a:latin typeface="Segoe UI"/>
              </a:defRPr>
            </a:pPr>
            <a:r>
              <a:t>Slide 9 /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2004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FCC64B"/>
                </a:solidFill>
                <a:latin typeface="Segoe UI"/>
              </a:defRPr>
            </a:pPr>
            <a:r>
              <a:t>★  08. MỸ THUẬT &amp; GIAO DIỆN  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94360"/>
            <a:ext cx="105156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300" b="1">
                <a:solidFill>
                  <a:srgbClr val="FFFCF5"/>
                </a:solidFill>
                <a:latin typeface="Segoe UI"/>
              </a:defRPr>
            </a:pPr>
            <a:r>
              <a:t>THIẾT KẾ GIAO DIỆN &amp; TRẢI NGHIỆM VÕ QUÁN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115568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>
                <a:solidFill>
                  <a:srgbClr val="B9AA9B"/>
                </a:solidFill>
                <a:latin typeface="Segoe UI"/>
              </a:defRPr>
            </a:pPr>
            <a:r>
              <a:t>Chủ đề võ quán kiếm đạo mộc mạc, tối giản giao diện để tối đa hóa không gian chém quả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554480"/>
            <a:ext cx="3328416" cy="4754880"/>
          </a:xfrm>
          <a:prstGeom prst="roundRect">
            <a:avLst/>
          </a:prstGeom>
          <a:solidFill>
            <a:srgbClr val="221811"/>
          </a:solidFill>
          <a:ln w="15240">
            <a:solidFill>
              <a:srgbClr val="FCC6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868680" y="1691640"/>
            <a:ext cx="3054096" cy="685800"/>
          </a:xfrm>
          <a:prstGeom prst="roundRect">
            <a:avLst/>
          </a:prstGeom>
          <a:solidFill>
            <a:srgbClr val="302218"/>
          </a:solidFill>
          <a:ln w="12700">
            <a:solidFill>
              <a:srgbClr val="FCC6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14400" y="1737360"/>
            <a:ext cx="2962656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CC64B"/>
                </a:solidFill>
              </a:defRPr>
            </a:pPr>
            <a:r>
              <a:t>MÀN HÌNH CHÍNH (MAIN MENU)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2514600"/>
            <a:ext cx="2999232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100" b="1">
                <a:solidFill>
                  <a:srgbClr val="FFFCF5"/>
                </a:solidFill>
              </a:rPr>
              <a:t>★ Không gian Võ Quán: </a:t>
            </a:r>
            <a:r>
              <a:rPr sz="1050">
                <a:solidFill>
                  <a:srgbClr val="B9AA9B"/>
                </a:solidFill>
              </a:rPr>
              <a:t>Nền thớt gỗ ấm áp, phong cách kiếm đạo mộc mạc.</a:t>
            </a:r>
          </a:p>
          <a:p>
            <a:pPr>
              <a:spcAft>
                <a:spcPts val="1200"/>
              </a:spcAft>
            </a:pPr>
            <a:r>
              <a:rPr sz="1100" b="1">
                <a:solidFill>
                  <a:srgbClr val="FFFCF5"/>
                </a:solidFill>
              </a:rPr>
              <a:t>★ Nút Play bản to: </a:t>
            </a:r>
            <a:r>
              <a:rPr sz="1050">
                <a:solidFill>
                  <a:srgbClr val="B9AA9B"/>
                </a:solidFill>
              </a:rPr>
              <a:t>Phong cách biển gỗ, dễ bấm trên cả PC và cảm ứng.</a:t>
            </a:r>
          </a:p>
          <a:p>
            <a:pPr>
              <a:spcAft>
                <a:spcPts val="1200"/>
              </a:spcAft>
            </a:pPr>
            <a:r>
              <a:rPr sz="1100" b="1">
                <a:solidFill>
                  <a:srgbClr val="FFFCF5"/>
                </a:solidFill>
              </a:rPr>
              <a:t>★ Hiển thị Kỷ lục: </a:t>
            </a:r>
            <a:r>
              <a:rPr sz="1050">
                <a:solidFill>
                  <a:srgbClr val="B9AA9B"/>
                </a:solidFill>
              </a:rPr>
              <a:t>Điểm High Score hiển thị ngay sảnh chờ khích lệ tranh tài.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25696" y="1554480"/>
            <a:ext cx="3328416" cy="4754880"/>
          </a:xfrm>
          <a:prstGeom prst="roundRect">
            <a:avLst/>
          </a:prstGeom>
          <a:solidFill>
            <a:srgbClr val="221811"/>
          </a:solidFill>
          <a:ln w="1524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4562856" y="1691640"/>
            <a:ext cx="3054096" cy="685800"/>
          </a:xfrm>
          <a:prstGeom prst="roundRect">
            <a:avLst/>
          </a:prstGeom>
          <a:solidFill>
            <a:srgbClr val="302218"/>
          </a:solidFill>
          <a:ln w="127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608576" y="1737360"/>
            <a:ext cx="2962656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39C12"/>
                </a:solidFill>
              </a:defRPr>
            </a:pPr>
            <a:r>
              <a:t>GIAO DIỆN TRONG GAME (HUD)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90288" y="2514600"/>
            <a:ext cx="2999232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100" b="1">
                <a:solidFill>
                  <a:srgbClr val="FFFCF5"/>
                </a:solidFill>
              </a:rPr>
              <a:t>★ Thiết kế tối giản 90%: </a:t>
            </a:r>
            <a:r>
              <a:rPr sz="1050">
                <a:solidFill>
                  <a:srgbClr val="B9AA9B"/>
                </a:solidFill>
              </a:rPr>
              <a:t>HUD gom gọn ở mép trên, để trọn màn hình cho vệt kiếm.</a:t>
            </a:r>
          </a:p>
          <a:p>
            <a:pPr>
              <a:spcAft>
                <a:spcPts val="1200"/>
              </a:spcAft>
            </a:pPr>
            <a:r>
              <a:rPr sz="1100" b="1">
                <a:solidFill>
                  <a:srgbClr val="FFFCF5"/>
                </a:solidFill>
              </a:rPr>
              <a:t>★ Thông số trực quan: </a:t>
            </a:r>
            <a:r>
              <a:rPr sz="1050">
                <a:solidFill>
                  <a:srgbClr val="B9AA9B"/>
                </a:solidFill>
              </a:rPr>
              <a:t>Chỉ hiển thị Điểm số hiện tại và 3 Tim sinh mệnh rõ ràng.</a:t>
            </a:r>
          </a:p>
          <a:p>
            <a:pPr>
              <a:spcAft>
                <a:spcPts val="1200"/>
              </a:spcAft>
            </a:pPr>
            <a:r>
              <a:rPr sz="1100" b="1">
                <a:solidFill>
                  <a:srgbClr val="FFFCF5"/>
                </a:solidFill>
              </a:rPr>
              <a:t>★ Vệt kiếm rực sáng: </a:t>
            </a:r>
            <a:r>
              <a:rPr sz="1050">
                <a:solidFill>
                  <a:srgbClr val="B9AA9B"/>
                </a:solidFill>
              </a:rPr>
              <a:t>Vệt sáng theo chuột tạo cảm giác kiếm đạo sắc bén.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19872" y="1554480"/>
            <a:ext cx="3328416" cy="4754880"/>
          </a:xfrm>
          <a:prstGeom prst="roundRect">
            <a:avLst/>
          </a:prstGeom>
          <a:solidFill>
            <a:srgbClr val="221811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8257032" y="1691640"/>
            <a:ext cx="3054096" cy="685800"/>
          </a:xfrm>
          <a:prstGeom prst="roundRect">
            <a:avLst/>
          </a:prstGeom>
          <a:solidFill>
            <a:srgbClr val="302218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302752" y="1737360"/>
            <a:ext cx="2962656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ECC71"/>
                </a:solidFill>
              </a:defRPr>
            </a:pPr>
            <a:r>
              <a:t>GAME OVER &amp; TÁI ĐẤU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84464" y="2514600"/>
            <a:ext cx="2999232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100" b="1">
                <a:solidFill>
                  <a:srgbClr val="FFFCF5"/>
                </a:solidFill>
              </a:rPr>
              <a:t>★ Bảng tổng kết chiến tích: </a:t>
            </a:r>
            <a:r>
              <a:rPr sz="1050">
                <a:solidFill>
                  <a:srgbClr val="B9AA9B"/>
                </a:solidFill>
              </a:rPr>
              <a:t>Hiển thị điểm số vừa đạt được và so sánh với kỷ lục cũ.</a:t>
            </a:r>
          </a:p>
          <a:p>
            <a:pPr>
              <a:spcAft>
                <a:spcPts val="1200"/>
              </a:spcAft>
            </a:pPr>
            <a:r>
              <a:rPr sz="1100" b="1">
                <a:solidFill>
                  <a:srgbClr val="FFFCF5"/>
                </a:solidFill>
              </a:rPr>
              <a:t>★ Huy hiệu New Record: </a:t>
            </a:r>
            <a:r>
              <a:rPr sz="1050">
                <a:solidFill>
                  <a:srgbClr val="B9AA9B"/>
                </a:solidFill>
              </a:rPr>
              <a:t>Vinh danh thành tích khi người chơi phá vỡ mốc điểm cao.</a:t>
            </a:r>
          </a:p>
          <a:p>
            <a:pPr>
              <a:spcAft>
                <a:spcPts val="1200"/>
              </a:spcAft>
            </a:pPr>
            <a:r>
              <a:rPr sz="1100" b="1">
                <a:solidFill>
                  <a:srgbClr val="FFFCF5"/>
                </a:solidFill>
              </a:rPr>
              <a:t>★ Tái đấu tức thì: </a:t>
            </a:r>
            <a:r>
              <a:rPr sz="1050">
                <a:solidFill>
                  <a:srgbClr val="B9AA9B"/>
                </a:solidFill>
              </a:rPr>
              <a:t>Nút Restart nạp lại ván đấu trong 0.1 giây không độ trễ.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0E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CC6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E09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656539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917D69"/>
                </a:solidFill>
                <a:latin typeface="Segoe UI"/>
              </a:defRPr>
            </a:pPr>
            <a:r>
              <a:t>FRUIT NINJA – GAME ĐÀO VÀNG 2D  •  ĐỒ ÁN PHÁT TRIỂN GAME 2D CNTT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565392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>
                <a:solidFill>
                  <a:srgbClr val="FCC64B"/>
                </a:solidFill>
                <a:latin typeface="Segoe UI"/>
              </a:defRPr>
            </a:pPr>
            <a:r>
              <a:t>Slide 10 /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2004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FCC64B"/>
                </a:solidFill>
                <a:latin typeface="Segoe UI"/>
              </a:defRPr>
            </a:pPr>
            <a:r>
              <a:t>★  09. TỔNG KẾT ĐỒ ÁN  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94360"/>
            <a:ext cx="105156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300" b="1">
                <a:solidFill>
                  <a:srgbClr val="FFFCF5"/>
                </a:solidFill>
                <a:latin typeface="Segoe UI"/>
              </a:defRPr>
            </a:pPr>
            <a:r>
              <a:t>TỔNG KẾT DỰ ÁN &amp; HƯỚNG PHÁT TRIỂN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115568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>
                <a:solidFill>
                  <a:srgbClr val="B9AA9B"/>
                </a:solidFill>
                <a:latin typeface="Segoe UI"/>
              </a:defRPr>
            </a:pPr>
            <a:r>
              <a:t>Đánh giá mức độ hoàn thiện sản phẩm và lộ trình nâng cấp mở rộng trong tương lai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554480"/>
            <a:ext cx="5257800" cy="3200400"/>
          </a:xfrm>
          <a:prstGeom prst="roundRect">
            <a:avLst/>
          </a:prstGeom>
          <a:solidFill>
            <a:srgbClr val="221811"/>
          </a:solidFill>
          <a:ln w="15240">
            <a:solidFill>
              <a:srgbClr val="FCC6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60120" y="1691640"/>
            <a:ext cx="4800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FCC64B"/>
                </a:solidFill>
              </a:defRPr>
            </a:pPr>
            <a:r>
              <a:t>🏆 KẾT QUẢ ĐẠT ĐƯỢC CỦA ĐỒ ÁN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148840"/>
            <a:ext cx="48006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FFFCF5"/>
                </a:solidFill>
              </a:rPr>
              <a:t>✔ Hoàn thiện 100% Core Gameplay: </a:t>
            </a:r>
            <a:r>
              <a:rPr sz="1050">
                <a:solidFill>
                  <a:srgbClr val="B9AA9B"/>
                </a:solidFill>
              </a:rPr>
              <a:t>Cơ chế chém quả, nảy vật lý Parabol, bẫy bom chính xác.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FFFCF5"/>
                </a:solidFill>
              </a:rPr>
              <a:t>✔ Hiệu năng tối ưu tuyệt đối: </a:t>
            </a:r>
            <a:r>
              <a:rPr sz="1050">
                <a:solidFill>
                  <a:srgbClr val="B9AA9B"/>
                </a:solidFill>
              </a:rPr>
              <a:t>Áp dụng Object Pooling đạt 60+ FPS ổn định, triệt tiêu giật lag.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FFFCF5"/>
                </a:solidFill>
              </a:rPr>
              <a:t>✔ Kiến trúc mã nguồn chuẩn OOP: </a:t>
            </a:r>
            <a:r>
              <a:rPr sz="1050">
                <a:solidFill>
                  <a:srgbClr val="B9AA9B"/>
                </a:solidFill>
              </a:rPr>
              <a:t>Áp dụng Singleton Pattern, phân tách nhiệm vụ rõ ràng.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FFFCF5"/>
                </a:solidFill>
              </a:rPr>
              <a:t>✔ Đồ họa &amp; Âm thanh sống động: </a:t>
            </a:r>
            <a:r>
              <a:rPr sz="1050">
                <a:solidFill>
                  <a:srgbClr val="B9AA9B"/>
                </a:solidFill>
              </a:rPr>
              <a:t>Phong cách võ quán ấm cúng, hiệu ứng nước ép và rung giật kịch tính.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9632" y="1554480"/>
            <a:ext cx="5257800" cy="3200400"/>
          </a:xfrm>
          <a:prstGeom prst="roundRect">
            <a:avLst/>
          </a:prstGeom>
          <a:solidFill>
            <a:srgbClr val="221811"/>
          </a:solidFill>
          <a:ln w="1524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28232" y="1691640"/>
            <a:ext cx="4800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F39C12"/>
                </a:solidFill>
              </a:defRPr>
            </a:pPr>
            <a:r>
              <a:t>🚀 HƯỚNG PHÁT TRIỂN TRONG TƯƠNG LAI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28232" y="2148840"/>
            <a:ext cx="48006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FFFCF5"/>
                </a:solidFill>
              </a:rPr>
              <a:t>✦ Chế độ chơi mới: </a:t>
            </a:r>
            <a:r>
              <a:rPr sz="1050">
                <a:solidFill>
                  <a:srgbClr val="B9AA9B"/>
                </a:solidFill>
              </a:rPr>
              <a:t>Bổ sung Zen Mode (không bom) và Arcade Mode (tính giờ 60s).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FFFCF5"/>
                </a:solidFill>
              </a:rPr>
              <a:t>✦ Trái cây kỹ năng đặc biệt: </a:t>
            </a:r>
            <a:r>
              <a:rPr sz="1050">
                <a:solidFill>
                  <a:srgbClr val="B9AA9B"/>
                </a:solidFill>
              </a:rPr>
              <a:t>Chuối Freeze (đóng băng thời gian), Chuối Frenzy (bão quả).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FFFCF5"/>
                </a:solidFill>
              </a:rPr>
              <a:t>✦ Tùy biến Kiếm &amp; Võ Quán: </a:t>
            </a:r>
            <a:r>
              <a:rPr sz="1050">
                <a:solidFill>
                  <a:srgbClr val="B9AA9B"/>
                </a:solidFill>
              </a:rPr>
              <a:t>Cửa hàng Skin kiếm (lửa, băng, sấm sét) và đổi phông nền võ đường.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FFFCF5"/>
                </a:solidFill>
              </a:rPr>
              <a:t>✦ Bảng xếp hạng Online: </a:t>
            </a:r>
            <a:r>
              <a:rPr sz="1050">
                <a:solidFill>
                  <a:srgbClr val="B9AA9B"/>
                </a:solidFill>
              </a:rPr>
              <a:t>Tích hợp Leaderboard trực tuyến để người chơi tranh tài toàn cầu.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919472"/>
            <a:ext cx="10728655" cy="1353312"/>
          </a:xfrm>
          <a:prstGeom prst="roundRect">
            <a:avLst/>
          </a:prstGeom>
          <a:solidFill>
            <a:srgbClr val="302218"/>
          </a:solidFill>
          <a:ln w="15240">
            <a:solidFill>
              <a:srgbClr val="DCA8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14400" y="5029200"/>
            <a:ext cx="10362895" cy="1143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700" b="1">
                <a:solidFill>
                  <a:srgbClr val="FCC64B"/>
                </a:solidFill>
              </a:defRPr>
            </a:pPr>
            <a:r>
              <a:t>CHÂN THÀNH CẢM ƠN THẦY CÔ VÀ HỘI ĐỒNG ĐÃ LẮNG NGHE!</a:t>
            </a:r>
          </a:p>
          <a:p>
            <a:pPr algn="ctr">
              <a:defRPr sz="1250">
                <a:solidFill>
                  <a:srgbClr val="FFFCF5"/>
                </a:solidFill>
              </a:defRPr>
            </a:pPr>
            <a:r>
              <a:t>Kính mời Quý Thầy Cô và các bạn đặt câu hỏi đóng góp cho đồ án (Q&amp;A)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2568</Words>
  <Application>Microsoft Office PowerPoint</Application>
  <PresentationFormat>Widescreen</PresentationFormat>
  <Paragraphs>196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>generated using python-pptx</dc:description>
  <cp:lastModifiedBy>Admin</cp:lastModifiedBy>
  <cp:revision>2</cp:revision>
  <dcterms:created xsi:type="dcterms:W3CDTF">2013-01-27T09:14:16Z</dcterms:created>
  <dcterms:modified xsi:type="dcterms:W3CDTF">2026-09-25T10:21:37Z</dcterms:modified>
  <cp:category/>
</cp:coreProperties>
</file>