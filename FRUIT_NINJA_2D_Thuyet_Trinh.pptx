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1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731520"/>
            <a:ext cx="10728655" cy="54406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DCA8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88720" y="1051560"/>
            <a:ext cx="5029200" cy="384048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DCA8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CC64B"/>
                </a:solidFill>
                <a:latin typeface="Segoe UI"/>
              </a:defRPr>
            </a:pPr>
            <a:r>
              <a:t>⚔️  BÁO CÁO ĐỒ ÁN PHÁT TRIỂN GAME 2D  •  CNTT  ⚔️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600200"/>
            <a:ext cx="6858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CC64B"/>
                </a:solidFill>
                <a:latin typeface="Segoe UI"/>
              </a:defRPr>
            </a:pPr>
            <a:r>
              <a:t>FRUIT NINJA – GAME ĐÀO VÀNG 2D</a:t>
            </a:r>
          </a:p>
          <a:p>
            <a:pPr>
              <a:defRPr sz="1500" b="1">
                <a:solidFill>
                  <a:srgbClr val="FFFCF5"/>
                </a:solidFill>
                <a:latin typeface="Segoe UI"/>
              </a:defRPr>
            </a:pPr>
            <a:r>
              <a:t>TỰA GAME CHÉM HOA QUẢ 2D PHONG CÁCH VÕ QUÁN TRUYỀN THỐNG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2926080"/>
            <a:ext cx="6217920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3154680"/>
            <a:ext cx="6217920" cy="2560320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553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3291840"/>
            <a:ext cx="5760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50">
                <a:solidFill>
                  <a:srgbClr val="FCC64B"/>
                </a:solidFill>
                <a:latin typeface="Segoe UI"/>
              </a:rPr>
              <a:t>• Giảng viên hướng dẫn: </a:t>
            </a:r>
            <a:r>
              <a:rPr sz="1150">
                <a:solidFill>
                  <a:srgbClr val="EBE4DA"/>
                </a:solidFill>
                <a:latin typeface="Segoe UI"/>
              </a:rPr>
              <a:t>ThS. [Họ và Tên Giảng Viên]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FCC64B"/>
                </a:solidFill>
                <a:latin typeface="Segoe UI"/>
              </a:rPr>
              <a:t>• Sinh viên thực hiện: </a:t>
            </a:r>
            <a:r>
              <a:rPr sz="1150">
                <a:solidFill>
                  <a:srgbClr val="EBE4DA"/>
                </a:solidFill>
                <a:latin typeface="Segoe UI"/>
              </a:rPr>
              <a:t>[Họ và Tên Sinh Viên]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FCC64B"/>
                </a:solidFill>
                <a:latin typeface="Segoe UI"/>
              </a:rPr>
              <a:t>• Mã số sinh viên (MSSV): </a:t>
            </a:r>
            <a:r>
              <a:rPr sz="1150">
                <a:solidFill>
                  <a:srgbClr val="EBE4DA"/>
                </a:solidFill>
                <a:latin typeface="Segoe UI"/>
              </a:rPr>
              <a:t>[Mã số sinh viên]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FCC64B"/>
                </a:solidFill>
                <a:latin typeface="Segoe UI"/>
              </a:rPr>
              <a:t>• Chuyên ngành đào tạo: </a:t>
            </a:r>
            <a:r>
              <a:rPr sz="1150">
                <a:solidFill>
                  <a:srgbClr val="EBE4DA"/>
                </a:solidFill>
                <a:latin typeface="Segoe UI"/>
              </a:rPr>
              <a:t>Công nghệ Thông tin / Kỹ thuật Phần mềm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FCC64B"/>
                </a:solidFill>
                <a:latin typeface="Segoe UI"/>
              </a:rPr>
              <a:t>• Công nghệ sử dụng: </a:t>
            </a:r>
            <a:r>
              <a:rPr sz="1150">
                <a:solidFill>
                  <a:srgbClr val="EBE4DA"/>
                </a:solidFill>
                <a:latin typeface="Segoe UI"/>
              </a:rPr>
              <a:t>Unity Engine (URP 2D)  •  Ngôn ngữ C# Scripting</a:t>
            </a:r>
          </a:p>
        </p:txBody>
      </p:sp>
      <p:pic>
        <p:nvPicPr>
          <p:cNvPr id="13" name="Picture 12" descr="Dưa hấ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188720"/>
            <a:ext cx="2377440" cy="1337310"/>
          </a:xfrm>
          <a:prstGeom prst="rect">
            <a:avLst/>
          </a:prstGeom>
        </p:spPr>
      </p:pic>
      <p:pic>
        <p:nvPicPr>
          <p:cNvPr id="14" name="Picture 13" descr="bo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474720"/>
            <a:ext cx="1645920" cy="1004011"/>
          </a:xfrm>
          <a:prstGeom prst="rect">
            <a:avLst/>
          </a:prstGeom>
        </p:spPr>
      </p:pic>
      <p:pic>
        <p:nvPicPr>
          <p:cNvPr id="15" name="Picture 14" descr="C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411480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01. TỔNG QUAN ĐỀ TÀI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TỔNG QUAN ĐỀ TÀI &amp; MỤC TIÊU PHÁT TRIỂN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Định hướng phát triển tựa game 2D mang tính giải trí cao, kỹ thuật tối ưu và lối chơi mượt mà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FCC64B"/>
                </a:solidFill>
                <a:latin typeface="Segoe UI"/>
              </a:defRPr>
            </a:pPr>
            <a:r>
              <a:t>01 • Ý TƯỞNG &amp; ĐỀ TÀI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Lối chơi kinh điển: </a:t>
            </a:r>
            <a:r>
              <a:rPr sz="1100">
                <a:solidFill>
                  <a:srgbClr val="B9AA9B"/>
                </a:solidFill>
                <a:latin typeface="Segoe UI"/>
              </a:rPr>
              <a:t>Kế thừa phong cách Fruit Ninja nhanh nhẹn, lôi cuốn.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Chủ đề Võ Quán: </a:t>
            </a:r>
            <a:r>
              <a:rPr sz="1100">
                <a:solidFill>
                  <a:srgbClr val="B9AA9B"/>
                </a:solidFill>
                <a:latin typeface="Segoe UI"/>
              </a:rPr>
              <a:t>Không gian mộc mạc, đậm chất kiếm đạo truyền thống.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Giải trí tức thì: </a:t>
            </a:r>
            <a:r>
              <a:rPr sz="1100">
                <a:solidFill>
                  <a:srgbClr val="B9AA9B"/>
                </a:solidFill>
                <a:latin typeface="Segoe UI"/>
              </a:rPr>
              <a:t>Phù hợp mọi lứa tuổi, giải tỏa căng thẳng hiệu quả.</a:t>
            </a:r>
          </a:p>
        </p:txBody>
      </p:sp>
      <p:pic>
        <p:nvPicPr>
          <p:cNvPr id="14" name="Picture 13" descr="tá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5257800"/>
            <a:ext cx="868680" cy="8686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62856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F39C12"/>
                </a:solidFill>
                <a:latin typeface="Segoe UI"/>
              </a:defRPr>
            </a:pPr>
            <a:r>
              <a:t>02 • MỤC TIÊU KỸ THUẬT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51460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Vật lý Unity 2D: </a:t>
            </a:r>
            <a:r>
              <a:rPr sz="1100">
                <a:solidFill>
                  <a:srgbClr val="B9AA9B"/>
                </a:solidFill>
                <a:latin typeface="Segoe UI"/>
              </a:rPr>
              <a:t>Làm chủ Rigidbody2D, CircleCollider2D &amp; Raycast.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Object Pooling: </a:t>
            </a:r>
            <a:r>
              <a:rPr sz="1100">
                <a:solidFill>
                  <a:srgbClr val="B9AA9B"/>
                </a:solidFill>
                <a:latin typeface="Segoe UI"/>
              </a:rPr>
              <a:t>Tối ưu hóa RAM, triệt tiêu giật lag do Garbage Collector.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Kiến trúc Clean Code: </a:t>
            </a:r>
            <a:r>
              <a:rPr sz="1100">
                <a:solidFill>
                  <a:srgbClr val="B9AA9B"/>
                </a:solidFill>
                <a:latin typeface="Segoe UI"/>
              </a:rPr>
              <a:t>Ứng dụng mô hình Singleton &amp; Event-Driven mạch lạc.</a:t>
            </a:r>
          </a:p>
        </p:txBody>
      </p:sp>
      <p:pic>
        <p:nvPicPr>
          <p:cNvPr id="19" name="Picture 18" descr="Chuo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5257800"/>
            <a:ext cx="868680" cy="8686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57032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ECC71"/>
                </a:solidFill>
                <a:latin typeface="Segoe UI"/>
              </a:defRPr>
            </a:pPr>
            <a:r>
              <a:t>03 • TRẢI NGHIỆM NGƯỜI CHƠI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51460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Chuẩn 60 FPS: </a:t>
            </a:r>
            <a:r>
              <a:rPr sz="1100">
                <a:solidFill>
                  <a:srgbClr val="B9AA9B"/>
                </a:solidFill>
                <a:latin typeface="Segoe UI"/>
              </a:rPr>
              <a:t>Vận hành ổn định, phản hồi thao tác tức thì.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Hiệu ứng thị giác: </a:t>
            </a:r>
            <a:r>
              <a:rPr sz="1100">
                <a:solidFill>
                  <a:srgbClr val="B9AA9B"/>
                </a:solidFill>
                <a:latin typeface="Segoe UI"/>
              </a:rPr>
              <a:t>Vệt chém rực sáng, tóe nước ép và rung chấn nảy lửa.</a:t>
            </a:r>
          </a:p>
          <a:p>
            <a:pPr>
              <a:spcAft>
                <a:spcPts val="1200"/>
              </a:spcAft>
            </a:pPr>
            <a:r>
              <a:rPr b="1" sz="1150">
                <a:solidFill>
                  <a:srgbClr val="FFFCF5"/>
                </a:solidFill>
                <a:latin typeface="Segoe UI"/>
              </a:rPr>
              <a:t>✔ Khả năng mở rộng: </a:t>
            </a:r>
            <a:r>
              <a:rPr sz="1100">
                <a:solidFill>
                  <a:srgbClr val="B9AA9B"/>
                </a:solidFill>
                <a:latin typeface="Segoe UI"/>
              </a:rPr>
              <a:t>Cấu trúc linh hoạt, dễ dàng thêm màn chơi và skin mới.</a:t>
            </a:r>
          </a:p>
        </p:txBody>
      </p:sp>
      <p:pic>
        <p:nvPicPr>
          <p:cNvPr id="24" name="Picture 23" descr="DauT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2" y="525780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02. CƠ CHẾ TRÒ CHƠI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CỐT LÕI GAMEPLAY &amp; LUẬT CHƠI TRỰC QUAN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Lối chơi đơn giản, phản xạ tốc độ cao, kích thích sự tập trung và độ chính xác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285232" cy="226771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19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CC64B"/>
                </a:solidFill>
                <a:latin typeface="Segoe UI"/>
              </a:defRPr>
            </a:pPr>
            <a:r>
              <a:t>⚔️  VỆT KIẾM CHÉM (BLADE SLICE)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29968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Thao tác trực quan: </a:t>
            </a:r>
            <a:r>
              <a:rPr sz="1050">
                <a:solidFill>
                  <a:srgbClr val="B9AA9B"/>
                </a:solidFill>
                <a:latin typeface="Segoe UI"/>
              </a:rPr>
              <a:t>Nhấn giữ chuột hoặc vuốt chạm cảm ứng mượt mà.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Ngưỡng tốc độ (Min Velocity): </a:t>
            </a:r>
            <a:r>
              <a:rPr sz="1050">
                <a:solidFill>
                  <a:srgbClr val="B9AA9B"/>
                </a:solidFill>
                <a:latin typeface="Segoe UI"/>
              </a:rPr>
              <a:t>Chỉ kích hoạt nhát chém khi đường vuốt đủ nhanh.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Vệt sáng TrailRenderer: </a:t>
            </a:r>
            <a:r>
              <a:rPr sz="1050">
                <a:solidFill>
                  <a:srgbClr val="B9AA9B"/>
                </a:solidFill>
                <a:latin typeface="Segoe UI"/>
              </a:rPr>
              <a:t>Hiệu ứng vệt kiếm bám đuổi theo ngón tay không độ trễ.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285232" cy="226771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4919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2ECC71"/>
                </a:solidFill>
                <a:latin typeface="Segoe UI"/>
              </a:defRPr>
            </a:pPr>
            <a:r>
              <a:t>🍉  HOA QUẢ VẬT LÝ PARABOL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29968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Quỹ đạo ngẫu nhiên: </a:t>
            </a:r>
            <a:r>
              <a:rPr sz="1050">
                <a:solidFill>
                  <a:srgbClr val="B9AA9B"/>
                </a:solidFill>
                <a:latin typeface="Segoe UI"/>
              </a:rPr>
              <a:t>Bắn từ mép dưới với lực đẩy và góc xiên đa dạng.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Đa dạng chủng loại: </a:t>
            </a:r>
            <a:r>
              <a:rPr sz="1050">
                <a:solidFill>
                  <a:srgbClr val="B9AA9B"/>
                </a:solidFill>
                <a:latin typeface="Segoe UI"/>
              </a:rPr>
              <a:t>Dưa hấu, Táo, Cam, Chuối... mang điểm số riêng biệt.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Tách đôi sống động: </a:t>
            </a:r>
            <a:r>
              <a:rPr sz="1050">
                <a:solidFill>
                  <a:srgbClr val="B9AA9B"/>
                </a:solidFill>
                <a:latin typeface="Segoe UI"/>
              </a:rPr>
              <a:t>Chém trúng tách thành 2 nửa (FruitHalf) xoay rơi tự 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05072"/>
            <a:ext cx="5285232" cy="226771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4919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EB4132"/>
                </a:solidFill>
                <a:latin typeface="Segoe UI"/>
              </a:defRPr>
            </a:pPr>
            <a:r>
              <a:t>💣  CHƯỚNG NGẠI BẪY BOM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805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Thử thách phản xạ: </a:t>
            </a:r>
            <a:r>
              <a:rPr sz="1050">
                <a:solidFill>
                  <a:srgbClr val="B9AA9B"/>
                </a:solidFill>
                <a:latin typeface="Segoe UI"/>
              </a:rPr>
              <a:t>Bom bay xen kẽ giữa các đợt trái cây bất ngờ.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Kích nổ rung chấn: </a:t>
            </a:r>
            <a:r>
              <a:rPr sz="1050">
                <a:solidFill>
                  <a:srgbClr val="B9AA9B"/>
                </a:solidFill>
                <a:latin typeface="Segoe UI"/>
              </a:rPr>
              <a:t>Chém phải bom: Lập tức phát nổ, rung màn hình &amp; trừ 1 Mạng.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Chiến thuật kiểm soát: </a:t>
            </a:r>
            <a:r>
              <a:rPr sz="1050">
                <a:solidFill>
                  <a:srgbClr val="B9AA9B"/>
                </a:solidFill>
                <a:latin typeface="Segoe UI"/>
              </a:rPr>
              <a:t>Buộc người chơi cân nhắc điểm dừng kiếm chuẩn xác.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05072"/>
            <a:ext cx="5285232" cy="226771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114800"/>
            <a:ext cx="4919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39C12"/>
                </a:solidFill>
                <a:latin typeface="Segoe UI"/>
              </a:defRPr>
            </a:pPr>
            <a:r>
              <a:t>❤️  SINH MỆNH &amp; ĐỘ KHÓ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4805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3 Tim sinh mệnh: </a:t>
            </a:r>
            <a:r>
              <a:rPr sz="1050">
                <a:solidFill>
                  <a:srgbClr val="B9AA9B"/>
                </a:solidFill>
                <a:latin typeface="Segoe UI"/>
              </a:rPr>
              <a:t>Bắt đầu với 3 mạng sống; hết mạng sẽ Game Over.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Cơ chế giải trí: </a:t>
            </a:r>
            <a:r>
              <a:rPr sz="1050">
                <a:solidFill>
                  <a:srgbClr val="B9AA9B"/>
                </a:solidFill>
                <a:latin typeface="Segoe UI"/>
              </a:rPr>
              <a:t>Quả rơi chạm đáy màn hình không bị phạt trừ mạng.</a:t>
            </a:r>
          </a:p>
          <a:p>
            <a:pPr>
              <a:spcAft>
                <a:spcPts val="300"/>
              </a:spcAft>
            </a:pPr>
            <a:r>
              <a:rPr b="1" sz="1100">
                <a:solidFill>
                  <a:srgbClr val="FFFCF5"/>
                </a:solidFill>
                <a:latin typeface="Segoe UI"/>
              </a:rPr>
              <a:t>• Nhịp độ dồn dập: </a:t>
            </a:r>
            <a:r>
              <a:rPr sz="1050">
                <a:solidFill>
                  <a:srgbClr val="B9AA9B"/>
                </a:solidFill>
                <a:latin typeface="Segoe UI"/>
              </a:rPr>
              <a:t>Tần suất và tốc độ bắn tăng dần theo thời gian chơi.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03. NGĂN XẾP CÔNG NGHỆ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CÔNG NGHỆ &amp; BỘ CÔNG CỤ PHÁT TRIỂN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Sử dụng bộ công cụ chuẩn công nghiệp game 2D, đảm bảo tính ổn định và khả năng tối ưu cao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2542032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1691640"/>
            <a:ext cx="2322576" cy="804672"/>
          </a:xfrm>
          <a:prstGeom prst="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37360"/>
            <a:ext cx="22677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FCC64B"/>
                </a:solidFill>
                <a:latin typeface="Segoe UI"/>
              </a:defRPr>
            </a:pPr>
            <a:r>
              <a:t>UNITY ENGINE</a:t>
            </a:r>
          </a:p>
          <a:p>
            <a:pPr>
              <a:defRPr sz="950">
                <a:solidFill>
                  <a:srgbClr val="B9AA9B"/>
                </a:solidFill>
                <a:latin typeface="Segoe UI"/>
              </a:defRPr>
            </a:pPr>
            <a:r>
              <a:t>2022 / 6 LTS (URP 2D)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22677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Động cơ phát triển game 2D hàng đầu.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Universal Render Pipeline tối ưu đồ họa.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Xuất đa nền tảng linh hoạt: PC, WebGL.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1554480"/>
            <a:ext cx="2542032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75304" y="1691640"/>
            <a:ext cx="2322576" cy="804672"/>
          </a:xfrm>
          <a:prstGeom prst="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2736" y="1737360"/>
            <a:ext cx="22677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F39C12"/>
                </a:solidFill>
                <a:latin typeface="Segoe UI"/>
              </a:defRPr>
            </a:pPr>
            <a:r>
              <a:t>NGÔN NGỮ C#</a:t>
            </a:r>
          </a:p>
          <a:p>
            <a:pPr>
              <a:defRPr sz="950">
                <a:solidFill>
                  <a:srgbClr val="B9AA9B"/>
                </a:solidFill>
                <a:latin typeface="Segoe UI"/>
              </a:defRPr>
            </a:pPr>
            <a:r>
              <a:t>Object-Oriented Programming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697480"/>
            <a:ext cx="22677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Hiện thực toàn bộ Gameplay &amp; Physics.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Áp dụng triệt để nguyên lý Clean Code.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Generic Collections tối ưu tốc độ xử lý.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542032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691640"/>
            <a:ext cx="2322576" cy="804672"/>
          </a:xfrm>
          <a:prstGeom prst="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1737360"/>
            <a:ext cx="22677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2ECC71"/>
                </a:solidFill>
                <a:latin typeface="Segoe UI"/>
              </a:defRPr>
            </a:pPr>
            <a:r>
              <a:t>VẬT LÝ UNITY 2D</a:t>
            </a:r>
          </a:p>
          <a:p>
            <a:pPr>
              <a:defRPr sz="950">
                <a:solidFill>
                  <a:srgbClr val="B9AA9B"/>
                </a:solidFill>
                <a:latin typeface="Segoe UI"/>
              </a:defRPr>
            </a:pPr>
            <a:r>
              <a:t>Physics2D &amp; Collision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2697480"/>
            <a:ext cx="22677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Rigidbody2D mô phỏng trọng lực Parabol.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Physics2D.Linecast dò tia cắt tức thời.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LayerMask phân tầng va chạm rõ ràng.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8" y="1554480"/>
            <a:ext cx="2542032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3416" y="1691640"/>
            <a:ext cx="2322576" cy="804672"/>
          </a:xfrm>
          <a:prstGeom prst="rect">
            <a:avLst/>
          </a:prstGeom>
          <a:solidFill>
            <a:srgbClr val="302218"/>
          </a:solidFill>
          <a:ln w="1270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1737360"/>
            <a:ext cx="226771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EB4132"/>
                </a:solidFill>
                <a:latin typeface="Segoe UI"/>
              </a:defRPr>
            </a:pPr>
            <a:r>
              <a:t>GRAPHICS &amp; VFX</a:t>
            </a:r>
          </a:p>
          <a:p>
            <a:pPr>
              <a:defRPr sz="950">
                <a:solidFill>
                  <a:srgbClr val="B9AA9B"/>
                </a:solidFill>
                <a:latin typeface="Segoe UI"/>
              </a:defRPr>
            </a:pPr>
            <a:r>
              <a:t>Particle &amp; Visual Juice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2697480"/>
            <a:ext cx="22677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TrailRenderer tạo vệt kiếm phát sáng.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Particle System tung tóe nước ép trái cây.</a:t>
            </a:r>
          </a:p>
          <a:p>
            <a:pPr>
              <a:spcAft>
                <a:spcPts val="1200"/>
              </a:spcAft>
              <a:defRPr sz="1100">
                <a:solidFill>
                  <a:srgbClr val="FFFCF5"/>
                </a:solidFill>
                <a:latin typeface="Segoe UI"/>
              </a:defRPr>
            </a:pPr>
            <a:r>
              <a:t>❖  Camera Shake tạo rung chấn khi nổ bom.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04. THIẾT KẾ PHẦN MỀM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KIẾN TRÚC HỆ THỐNG &amp; THIẾT KẾ CÁC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Cấu trúc Component-Based kết hợp Singleton Pattern giúp code sáng sủa, độc lập và dễ bảo trì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4297680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DCA8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916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CC64B"/>
                </a:solidFill>
              </a:defRPr>
            </a:pPr>
            <a:r>
              <a:t>🏛️ HỆ THỐNG CÁC MODULE CHÍNH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148840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8541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CC64B"/>
                </a:solidFill>
              </a:defRPr>
            </a:pPr>
            <a:r>
              <a:t>★ GameManager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Điều phối Game State, Mạng sống, Reset ván đấu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816352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852928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CC71"/>
                </a:solidFill>
              </a:defRPr>
            </a:pPr>
            <a:r>
              <a:t>★ ScoreManager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Lưu trữ Điểm số, Combo Streak, High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483864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52044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39C12"/>
                </a:solidFill>
              </a:defRPr>
            </a:pPr>
            <a:r>
              <a:t>★ UIManager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Cập nhật HUD, Màn hình Menu, Game Over modal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151376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FF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187952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FFCF5"/>
                </a:solidFill>
              </a:defRPr>
            </a:pPr>
            <a:r>
              <a:t>★ FruitSpawner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Tính toán nhịp bắn, góc xiên &amp; lực đẩy Parabol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818888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855464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3498DB"/>
                </a:solidFill>
              </a:defRPr>
            </a:pPr>
            <a:r>
              <a:t>★ BladeController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Bắt tọa độ vuốt chuột, tính vận tốc &amp; Raycast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486400"/>
            <a:ext cx="3931920" cy="576072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52297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EB4132"/>
                </a:solidFill>
              </a:defRPr>
            </a:pPr>
            <a:r>
              <a:t>★ ObjectPool</a:t>
            </a:r>
          </a:p>
          <a:p>
            <a:pPr>
              <a:defRPr sz="950">
                <a:solidFill>
                  <a:srgbClr val="B9AA9B"/>
                </a:solidFill>
              </a:defRPr>
            </a:pPr>
            <a:r>
              <a:t>Kho tái sử dụng đối tượng Fruit, Half &amp; Bomb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57800" y="1554480"/>
            <a:ext cx="6199632" cy="149047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1627632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50">
                <a:solidFill>
                  <a:srgbClr val="FCC64B"/>
                </a:solidFill>
              </a:defRPr>
            </a:pPr>
            <a:r>
              <a:t>MẪU THIẾT KẾ SINGLETON (SINGLETON PATTERN)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1901952"/>
            <a:ext cx="58521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050">
                <a:solidFill>
                  <a:srgbClr val="FFFCF5"/>
                </a:solidFill>
              </a:rPr>
              <a:t>✔ Một thực thể duy nhất: </a:t>
            </a:r>
            <a:r>
              <a:rPr sz="1050">
                <a:solidFill>
                  <a:srgbClr val="B9AA9B"/>
                </a:solidFill>
              </a:rPr>
              <a:t>GameManager, ScoreManager luôn duy trì 1 instance.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CF5"/>
                </a:solidFill>
              </a:rPr>
              <a:t>✔ Truy cập thuận tiện: </a:t>
            </a:r>
            <a:r>
              <a:rPr sz="1050">
                <a:solidFill>
                  <a:srgbClr val="B9AA9B"/>
                </a:solidFill>
              </a:rPr>
              <a:t>Gọi trực tiếp `GameManager.Instance` không cần Inspector.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CF5"/>
                </a:solidFill>
              </a:rPr>
              <a:t>✔ Bảo toàn dữ liệu: </a:t>
            </a:r>
            <a:r>
              <a:rPr sz="1050">
                <a:solidFill>
                  <a:srgbClr val="B9AA9B"/>
                </a:solidFill>
              </a:rPr>
              <a:t>Điểm số và kỷ lục được bảo lưu an toàn qua các lần chơi lại.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163824"/>
            <a:ext cx="6199632" cy="149047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36976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50">
                <a:solidFill>
                  <a:srgbClr val="F39C12"/>
                </a:solidFill>
              </a:defRPr>
            </a:pPr>
            <a:r>
              <a:t>GIAO TIẾP EVENT-DRIVEN &amp; LOOSE COUPLING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511296"/>
            <a:ext cx="58521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050">
                <a:solidFill>
                  <a:srgbClr val="FFFCF5"/>
                </a:solidFill>
              </a:rPr>
              <a:t>✔ Tách biệt logic: </a:t>
            </a:r>
            <a:r>
              <a:rPr sz="1050">
                <a:solidFill>
                  <a:srgbClr val="B9AA9B"/>
                </a:solidFill>
              </a:rPr>
              <a:t>Logic tính điểm hoàn toàn độc lập với việc vẽ text UI.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CF5"/>
                </a:solidFill>
              </a:rPr>
              <a:t>✔ Phản hồi thời gian thực: </a:t>
            </a:r>
            <a:r>
              <a:rPr sz="1050">
                <a:solidFill>
                  <a:srgbClr val="B9AA9B"/>
                </a:solidFill>
              </a:rPr>
              <a:t>Khi chém quả, Event kích hoạt đồng thời ScoreManager và VFX.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CF5"/>
                </a:solidFill>
              </a:rPr>
              <a:t>✔ Dễ mở rộng: </a:t>
            </a:r>
            <a:r>
              <a:rPr sz="1050">
                <a:solidFill>
                  <a:srgbClr val="B9AA9B"/>
                </a:solidFill>
              </a:rPr>
              <a:t>Thêm âm thanh hoặc hiệu ứng mới mà không cần sửa code cũ.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57800" y="4773168"/>
            <a:ext cx="6199632" cy="1490472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4846320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50">
                <a:solidFill>
                  <a:srgbClr val="2ECC71"/>
                </a:solidFill>
              </a:defRPr>
            </a:pPr>
            <a:r>
              <a:t>QUẢN LÝ VÒNG ĐỜI GAME LOOP (STATE 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5120640"/>
            <a:ext cx="58521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050">
                <a:solidFill>
                  <a:srgbClr val="FFFCF5"/>
                </a:solidFill>
              </a:rPr>
              <a:t>✔ Trạng thái rõ ràng: </a:t>
            </a:r>
            <a:r>
              <a:rPr sz="1050">
                <a:solidFill>
                  <a:srgbClr val="B9AA9B"/>
                </a:solidFill>
              </a:rPr>
              <a:t>Quản lý luồng mạch lạc: Menu -&gt; Playing -&gt; Paused -&gt; GameOver.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CF5"/>
                </a:solidFill>
              </a:rPr>
              <a:t>✔ Kiểm soát TimeScale: </a:t>
            </a:r>
            <a:r>
              <a:rPr sz="1050">
                <a:solidFill>
                  <a:srgbClr val="B9AA9B"/>
                </a:solidFill>
              </a:rPr>
              <a:t>Đóng băng `Time.timeScale = 0` mượt mà khi kết thúc game.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05. THUẬT TOÁN CỐT LÕI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KỸ THUẬT VẾT CHÉM &amp; PHÂN TÁCH HOA QUẢ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Kết hợp tính toán hình học Vector2, Linecast 2D và phản hồi vật lý Rigidbody sống động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CC64B"/>
                </a:solidFill>
              </a:defRPr>
            </a:pPr>
            <a:r>
              <a:t>BƯỚC 01 • NHẬN DIỆN VẾT CHÉM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Tọa độ chuột liên tục: </a:t>
            </a:r>
            <a:r>
              <a:rPr sz="1050">
                <a:solidFill>
                  <a:srgbClr val="B9AA9B"/>
                </a:solidFill>
              </a:rPr>
              <a:t>Cập nhật liên tục giữa `previousPos` và `currentPos`.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Ngưỡng Min Velocity: </a:t>
            </a:r>
            <a:r>
              <a:rPr sz="1050">
                <a:solidFill>
                  <a:srgbClr val="B9AA9B"/>
                </a:solidFill>
              </a:rPr>
              <a:t>Chỉ kích hoạt khi tốc độ quẹt đạt ngưỡng cho phép.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Physics2D.Linecast: </a:t>
            </a:r>
            <a:r>
              <a:rPr sz="1050">
                <a:solidFill>
                  <a:srgbClr val="B9AA9B"/>
                </a:solidFill>
              </a:rPr>
              <a:t>Bắn tia kiểm tra va chạm giữa 2 điểm chuột và Collider quả.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Bộ lọc HashSet: </a:t>
            </a:r>
            <a:r>
              <a:rPr sz="1050">
                <a:solidFill>
                  <a:srgbClr val="B9AA9B"/>
                </a:solidFill>
              </a:rPr>
              <a:t>Đảm bảo mỗi nhát chém chỉ gây sát thương 1 lần trên mỗi quả.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62856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39C12"/>
                </a:solidFill>
              </a:defRPr>
            </a:pPr>
            <a:r>
              <a:t>BƯỚC 02 • PHÂN TÁCH FRUITHALF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Ẩn quả nguyên vẹn: </a:t>
            </a:r>
            <a:r>
              <a:rPr sz="1050">
                <a:solidFill>
                  <a:srgbClr val="B9AA9B"/>
                </a:solidFill>
              </a:rPr>
              <a:t>Quả nguyên lập tức ẩn đi (`SetActive: false`) và về Pool.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Kích hoạt 2 nửa quả: </a:t>
            </a:r>
            <a:r>
              <a:rPr sz="1050">
                <a:solidFill>
                  <a:srgbClr val="B9AA9B"/>
                </a:solidFill>
              </a:rPr>
              <a:t>Lấy 2 nửa FruitHalf tương ứng từ Object Pool ra.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Lực đẩy trái chiều: </a:t>
            </a:r>
            <a:r>
              <a:rPr sz="1050">
                <a:solidFill>
                  <a:srgbClr val="B9AA9B"/>
                </a:solidFill>
              </a:rPr>
              <a:t>Gán vận tốc nảy: Nửa trái bay sang -X, nửa phải sang +X.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Thêm momen xoắn: </a:t>
            </a:r>
            <a:r>
              <a:rPr sz="1050">
                <a:solidFill>
                  <a:srgbClr val="B9AA9B"/>
                </a:solidFill>
              </a:rPr>
              <a:t>Hàm `AddTorque` ngẫu nhiên giúp 2 mảnh vừa rơi vừa xoay tròn.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57032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CC71"/>
                </a:solidFill>
              </a:defRPr>
            </a:pPr>
            <a:r>
              <a:t>BƯỚC 03 • HIỆU ỨNG JUICE &amp; GAME FEEL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TrailRenderer sáng: </a:t>
            </a:r>
            <a:r>
              <a:rPr sz="1050">
                <a:solidFill>
                  <a:srgbClr val="B9AA9B"/>
                </a:solidFill>
              </a:rPr>
              <a:t>Vệt kiếm sáng trắng co đuôi dần mượt mà trong 0.15s.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Splash Juice Particles: </a:t>
            </a:r>
            <a:r>
              <a:rPr sz="1050">
                <a:solidFill>
                  <a:srgbClr val="B9AA9B"/>
                </a:solidFill>
              </a:rPr>
              <a:t>Tung hạt nước ép màu sắc đặc trưng tại vị trí nhát cắt.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Camera Shake kịch tính: </a:t>
            </a:r>
            <a:r>
              <a:rPr sz="1050">
                <a:solidFill>
                  <a:srgbClr val="B9AA9B"/>
                </a:solidFill>
              </a:rPr>
              <a:t>Rung nhẹ màn hình tạo cảm giác chém đứt ngọt lịm.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FFCF5"/>
                </a:solidFill>
              </a:rPr>
              <a:t>❖ Âm thanh sảng khoái: </a:t>
            </a:r>
            <a:r>
              <a:rPr sz="1050">
                <a:solidFill>
                  <a:srgbClr val="B9AA9B"/>
                </a:solidFill>
              </a:rPr>
              <a:t>Phát Sound Effect 'xoẹt' tức thì khi va chạm xảy 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06. TỐI ƯU HÓA HIỆU NĂNG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TỐI ƯU HIỆU NĂNG VỚI KỸ THUẬT OBJECT POOLING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Triệt tiêu hiện tượng nghẽn bộ nhớ và sụt giảm khung hình, duy trì 60+ FPS ổn định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257800" cy="329184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EB4132"/>
                </a:solidFill>
              </a:defRPr>
            </a:pPr>
            <a:r>
              <a:t>❌ CÁCH TRUYỀN THỐNG (KHÔNG DÙNG POOL)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4800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✖ Gọi Instantiate / Destroy liên tục: </a:t>
            </a:r>
            <a:r>
              <a:rPr sz="1050">
                <a:solidFill>
                  <a:srgbClr val="B9AA9B"/>
                </a:solidFill>
              </a:rPr>
              <a:t>Mỗi quả sinh ra và biến mất tạo vùng nhớ rác mới.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✖ Phân mảnh RAM nghiêm trọng: </a:t>
            </a:r>
            <a:r>
              <a:rPr sz="1050">
                <a:solidFill>
                  <a:srgbClr val="B9AA9B"/>
                </a:solidFill>
              </a:rPr>
              <a:t>Hệ điều hành liên tục phải cấp phát &amp; thu hồi ô nhớ.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✖ Garbage Collector Spike: </a:t>
            </a:r>
            <a:r>
              <a:rPr sz="1050">
                <a:solidFill>
                  <a:srgbClr val="B9AA9B"/>
                </a:solidFill>
              </a:rPr>
              <a:t>Bộ dọn rác bất ngờ dừng luồng game để dọn RAM rác.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✖ Hậu quả trực tiếp: </a:t>
            </a:r>
            <a:r>
              <a:rPr sz="1050">
                <a:solidFill>
                  <a:srgbClr val="B9AA9B"/>
                </a:solidFill>
              </a:rPr>
              <a:t>Sụt FPS nghiêm trọng, khựng hình (stuttering) khi chém dồn.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257800" cy="329184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6916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2ECC71"/>
                </a:solidFill>
              </a:defRPr>
            </a:pPr>
            <a:r>
              <a:t>✔ GIẢI PHÁP OBJECT POOLING (ÁP DỤNG)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148840"/>
            <a:ext cx="4800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★ Khởi tạo sẵn một lần: </a:t>
            </a:r>
            <a:r>
              <a:rPr sz="1050">
                <a:solidFill>
                  <a:srgbClr val="B9AA9B"/>
                </a:solidFill>
              </a:rPr>
              <a:t>Nạp sẵn kho đối tượng Fruit, Half &amp; Bomb ngay từ Awake.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★ Tái chế tức thời (Recycle): </a:t>
            </a:r>
            <a:r>
              <a:rPr sz="1050">
                <a:solidFill>
                  <a:srgbClr val="B9AA9B"/>
                </a:solidFill>
              </a:rPr>
              <a:t>Bật `SetActive(true)` khi bắn, tắt `SetActive(false)` khi chém.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★ Không sinh rác bộ nhớ: </a:t>
            </a:r>
            <a:r>
              <a:rPr sz="1050">
                <a:solidFill>
                  <a:srgbClr val="B9AA9B"/>
                </a:solidFill>
              </a:rPr>
              <a:t>Số Object trong RAM cố định, GC Allocation đạt mức ~0 byte.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★ Kết quả đạt được: </a:t>
            </a:r>
            <a:r>
              <a:rPr sz="1050">
                <a:solidFill>
                  <a:srgbClr val="B9AA9B"/>
                </a:solidFill>
              </a:rPr>
              <a:t>Duy trì ổn định 60+ FPS, gameplay mượt mà trên mọi máy tính.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3328416" cy="1234440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38928"/>
            <a:ext cx="3145536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ECC71"/>
                </a:solidFill>
              </a:defRPr>
            </a:pPr>
            <a:r>
              <a:t>60+ FPS</a:t>
            </a:r>
          </a:p>
          <a:p>
            <a:pPr algn="ctr">
              <a:defRPr sz="1100">
                <a:solidFill>
                  <a:srgbClr val="EBE4DA"/>
                </a:solidFill>
              </a:defRPr>
            </a:pPr>
            <a:r>
              <a:t>Khung hình luôn mượt mà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5029200"/>
            <a:ext cx="3328416" cy="1234440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5138928"/>
            <a:ext cx="3145536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FCC64B"/>
                </a:solidFill>
              </a:defRPr>
            </a:pPr>
            <a:r>
              <a:t>~0 ms</a:t>
            </a:r>
          </a:p>
          <a:p>
            <a:pPr algn="ctr">
              <a:defRPr sz="1100">
                <a:solidFill>
                  <a:srgbClr val="EBE4DA"/>
                </a:solidFill>
              </a:defRPr>
            </a:pPr>
            <a:r>
              <a:t>Thời gian dừng chờ Garbage Collector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2" y="5029200"/>
            <a:ext cx="3328416" cy="1234440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5138928"/>
            <a:ext cx="3145536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F39C12"/>
                </a:solidFill>
              </a:defRPr>
            </a:pPr>
            <a:r>
              <a:t>-40% CPU</a:t>
            </a:r>
          </a:p>
          <a:p>
            <a:pPr algn="ctr">
              <a:defRPr sz="1100">
                <a:solidFill>
                  <a:srgbClr val="EBE4DA"/>
                </a:solidFill>
              </a:defRPr>
            </a:pPr>
            <a:r>
              <a:t>Tiết kiệm tài nguyên xử lý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07. HỆ THỐNG TIẾN TRÌNH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HỆ THỐNG ĐIỂM SỐ, COMBO STREAK &amp; KỶ LỤC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Tạo động lực cạnh tranh, tăng tính lôi cuốn và thúc đẩy giá trị chơi lại nhiều lần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CC64B"/>
                </a:solidFill>
              </a:defRPr>
            </a:pPr>
            <a:r>
              <a:t>01 • ĐIỂM SỐ &amp; COMBO STREAK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Điểm chém cơ bản: </a:t>
            </a:r>
            <a:r>
              <a:rPr sz="1050">
                <a:solidFill>
                  <a:srgbClr val="B9AA9B"/>
                </a:solidFill>
              </a:rPr>
              <a:t>Mỗi quả hoa quả chém trúng cộng trực tiếp +1 Điểm.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Cơ chế Combo: </a:t>
            </a:r>
            <a:r>
              <a:rPr sz="1050">
                <a:solidFill>
                  <a:srgbClr val="B9AA9B"/>
                </a:solidFill>
              </a:rPr>
              <a:t>Chém từ 3 quả trở lên trong 1 đường quẹt chuột.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Cấp số nhân thưởng: </a:t>
            </a:r>
            <a:r>
              <a:rPr sz="1050">
                <a:solidFill>
                  <a:srgbClr val="B9AA9B"/>
                </a:solidFill>
              </a:rPr>
              <a:t>Điểm nhận = Số quả x Hệ số Combo thưởng.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Hiệu ứng thỏa mãn: </a:t>
            </a:r>
            <a:r>
              <a:rPr sz="1050">
                <a:solidFill>
                  <a:srgbClr val="B9AA9B"/>
                </a:solidFill>
              </a:rPr>
              <a:t>Hiện popup chữ COMBO khích lệ gom quả thông minh.</a:t>
            </a:r>
          </a:p>
        </p:txBody>
      </p:sp>
      <p:pic>
        <p:nvPicPr>
          <p:cNvPr id="14" name="Picture 13" descr="icon_tro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5257800"/>
            <a:ext cx="777240" cy="777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62856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EB4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EB4132"/>
                </a:solidFill>
              </a:defRPr>
            </a:pPr>
            <a:r>
              <a:t>02 • 3 TIM SINH MỆNH &amp; BẪY BOM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Khởi đầu 3 Tim: </a:t>
            </a:r>
            <a:r>
              <a:rPr sz="1050">
                <a:solidFill>
                  <a:srgbClr val="B9AA9B"/>
                </a:solidFill>
              </a:rPr>
              <a:t>Hiển thị 3 biểu tượng Trái Tim ở thanh trạng thái.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Cơ chế tha bổng: </a:t>
            </a:r>
            <a:r>
              <a:rPr sz="1050">
                <a:solidFill>
                  <a:srgbClr val="B9AA9B"/>
                </a:solidFill>
              </a:rPr>
              <a:t>Quả rơi chạm đáy màn hình không bị trừ mạng.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Trừng phạt nghiêm khắc: </a:t>
            </a:r>
            <a:r>
              <a:rPr sz="1050">
                <a:solidFill>
                  <a:srgbClr val="B9AA9B"/>
                </a:solidFill>
              </a:rPr>
              <a:t>Chém phải bom nổ trừ ngay 1 Tim và rung màn hình.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Kết thúc ván đấu: </a:t>
            </a:r>
            <a:r>
              <a:rPr sz="1050">
                <a:solidFill>
                  <a:srgbClr val="B9AA9B"/>
                </a:solidFill>
              </a:rPr>
              <a:t>Mất hết 3 Tim trò chơi lập tức kích hoạt Game Over.</a:t>
            </a:r>
          </a:p>
        </p:txBody>
      </p:sp>
      <p:pic>
        <p:nvPicPr>
          <p:cNvPr id="19" name="Picture 18" descr="icon_h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416" y="5257800"/>
            <a:ext cx="777240" cy="7772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57032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CC71"/>
                </a:solidFill>
              </a:defRPr>
            </a:pPr>
            <a:r>
              <a:t>03 • LƯU TRỮ KỶ LỤC (HIGH SCORE)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Lưu trữ bền vững: </a:t>
            </a:r>
            <a:r>
              <a:rPr sz="1050">
                <a:solidFill>
                  <a:srgbClr val="B9AA9B"/>
                </a:solidFill>
              </a:rPr>
              <a:t>Ứng dụng cơ chế PlayerPrefs tiêu chuẩn của Unity.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Tự so sánh điểm: </a:t>
            </a:r>
            <a:r>
              <a:rPr sz="1050">
                <a:solidFill>
                  <a:srgbClr val="B9AA9B"/>
                </a:solidFill>
              </a:rPr>
              <a:t>Tự động so sánh điểm số sau mỗi ván với kỷ lục cũ.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Vinh danh kỷ lục: </a:t>
            </a:r>
            <a:r>
              <a:rPr sz="1050">
                <a:solidFill>
                  <a:srgbClr val="B9AA9B"/>
                </a:solidFill>
              </a:rPr>
              <a:t>Hiển thị huy hiệu 'NEW BEST SCORE!' khi phá kỷ lục.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FFCF5"/>
                </a:solidFill>
              </a:rPr>
              <a:t>• Dữ liệu vĩnh viễn: </a:t>
            </a:r>
            <a:r>
              <a:rPr sz="1050">
                <a:solidFill>
                  <a:srgbClr val="B9AA9B"/>
                </a:solidFill>
              </a:rPr>
              <a:t>Kỷ lục được giữ nguyên ngay cả khi tắt mở lại game.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08. MỸ THUẬT &amp; GIAO DIỆN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THIẾT KẾ GIAO DIỆN &amp; TRẢI NGHIỆM VÕ QUÁN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Chủ đề võ quán kiếm đạo mộc mạc, tối giản giao diện để tối đa hóa không gian chém quả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CC64B"/>
                </a:solidFill>
              </a:defRPr>
            </a:pPr>
            <a:r>
              <a:t>MÀN HÌNH CHÍNH (MAIN MENU)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Không gian Võ Quán: </a:t>
            </a:r>
            <a:r>
              <a:rPr sz="1050">
                <a:solidFill>
                  <a:srgbClr val="B9AA9B"/>
                </a:solidFill>
              </a:rPr>
              <a:t>Nền thớt gỗ ấm áp, phong cách kiếm đạo mộc mạc.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Nút Play bản to: </a:t>
            </a:r>
            <a:r>
              <a:rPr sz="1050">
                <a:solidFill>
                  <a:srgbClr val="B9AA9B"/>
                </a:solidFill>
              </a:rPr>
              <a:t>Phong cách biển gỗ, dễ bấm trên cả PC và cảm ứng.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Hiển thị Kỷ lục: </a:t>
            </a:r>
            <a:r>
              <a:rPr sz="1050">
                <a:solidFill>
                  <a:srgbClr val="B9AA9B"/>
                </a:solidFill>
              </a:rPr>
              <a:t>Điểm High Score hiển thị ngay sảnh chờ khích lệ tranh tài.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62856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39C12"/>
                </a:solidFill>
              </a:defRPr>
            </a:pPr>
            <a:r>
              <a:t>GIAO DIỆN TRONG GAME (HUD)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Thiết kế tối giản 90%: </a:t>
            </a:r>
            <a:r>
              <a:rPr sz="1050">
                <a:solidFill>
                  <a:srgbClr val="B9AA9B"/>
                </a:solidFill>
              </a:rPr>
              <a:t>HUD gom gọn ở mép trên, để trọn màn hình cho vệt kiếm.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Thông số trực quan: </a:t>
            </a:r>
            <a:r>
              <a:rPr sz="1050">
                <a:solidFill>
                  <a:srgbClr val="B9AA9B"/>
                </a:solidFill>
              </a:rPr>
              <a:t>Chỉ hiển thị Điểm số hiện tại và 3 Tim sinh mệnh rõ ràng.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Vệt kiếm rực sáng: </a:t>
            </a:r>
            <a:r>
              <a:rPr sz="1050">
                <a:solidFill>
                  <a:srgbClr val="B9AA9B"/>
                </a:solidFill>
              </a:rPr>
              <a:t>Vệt sáng theo chuột tạo cảm giác kiếm đạo sắc bén.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554480"/>
            <a:ext cx="3328416" cy="475488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57032" y="1691640"/>
            <a:ext cx="3054096" cy="685800"/>
          </a:xfrm>
          <a:prstGeom prst="roundRect">
            <a:avLst/>
          </a:prstGeom>
          <a:solidFill>
            <a:srgbClr val="302218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1737360"/>
            <a:ext cx="2962656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CC71"/>
                </a:solidFill>
              </a:defRPr>
            </a:pPr>
            <a:r>
              <a:t>GAME OVER &amp; TÁI ĐẤU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14600"/>
            <a:ext cx="299923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Bảng tổng kết chiến tích: </a:t>
            </a:r>
            <a:r>
              <a:rPr sz="1050">
                <a:solidFill>
                  <a:srgbClr val="B9AA9B"/>
                </a:solidFill>
              </a:rPr>
              <a:t>Hiển thị điểm số vừa đạt được và so sánh với kỷ lục cũ.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Huy hiệu New Record: </a:t>
            </a:r>
            <a:r>
              <a:rPr sz="1050">
                <a:solidFill>
                  <a:srgbClr val="B9AA9B"/>
                </a:solidFill>
              </a:rPr>
              <a:t>Vinh danh thành tích khi người chơi phá vỡ mốc điểm cao.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FFFCF5"/>
                </a:solidFill>
              </a:rPr>
              <a:t>★ Tái đấu tức thì: </a:t>
            </a:r>
            <a:r>
              <a:rPr sz="1050">
                <a:solidFill>
                  <a:srgbClr val="B9AA9B"/>
                </a:solidFill>
              </a:rPr>
              <a:t>Nút Restart nạp lại ván đấu trong 0.1 giây không độ trễ.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CC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09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6539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17D69"/>
                </a:solidFill>
                <a:latin typeface="Segoe UI"/>
              </a:defRPr>
            </a:pPr>
            <a:r>
              <a:t>FRUIT NINJA – GAME ĐÀO VÀNG 2D  •  ĐỒ ÁN PHÁT TRIỂN GAME 2D CNTT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56539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FCC64B"/>
                </a:solidFill>
                <a:latin typeface="Segoe UI"/>
              </a:defRPr>
            </a:pPr>
            <a:r>
              <a:t>Slide 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FCC64B"/>
                </a:solidFill>
                <a:latin typeface="Segoe UI"/>
              </a:defRPr>
            </a:pPr>
            <a:r>
              <a:t>★  09. TỔNG KẾT ĐỒ ÁN 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FFFCF5"/>
                </a:solidFill>
                <a:latin typeface="Segoe UI"/>
              </a:defRPr>
            </a:pPr>
            <a:r>
              <a:t>TỔNG KẾT DỰ ÁN &amp; HƯỚNG PHÁT TRIỂN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>
                <a:solidFill>
                  <a:srgbClr val="B9AA9B"/>
                </a:solidFill>
                <a:latin typeface="Segoe UI"/>
              </a:defRPr>
            </a:pPr>
            <a:r>
              <a:t>Đánh giá mức độ hoàn thiện sản phẩm và lộ trình nâng cấp mở rộng trong tương lai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257800" cy="320040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CC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CC64B"/>
                </a:solidFill>
              </a:defRPr>
            </a:pPr>
            <a:r>
              <a:t>🏆 KẾT QUẢ ĐẠT ĐƯỢC CỦA ĐỒ 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✔ Hoàn thiện 100% Core Gameplay: </a:t>
            </a:r>
            <a:r>
              <a:rPr sz="1050">
                <a:solidFill>
                  <a:srgbClr val="B9AA9B"/>
                </a:solidFill>
              </a:rPr>
              <a:t>Cơ chế chém quả, nảy vật lý Parabol, bẫy bom chính xác.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✔ Hiệu năng tối ưu tuyệt đối: </a:t>
            </a:r>
            <a:r>
              <a:rPr sz="1050">
                <a:solidFill>
                  <a:srgbClr val="B9AA9B"/>
                </a:solidFill>
              </a:rPr>
              <a:t>Áp dụng Object Pooling đạt 60+ FPS ổn định, triệt tiêu giật lag.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✔ Kiến trúc mã nguồn chuẩn OOP: </a:t>
            </a:r>
            <a:r>
              <a:rPr sz="1050">
                <a:solidFill>
                  <a:srgbClr val="B9AA9B"/>
                </a:solidFill>
              </a:rPr>
              <a:t>Áp dụng Singleton Pattern, phân tách nhiệm vụ rõ ràng.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✔ Đồ họa &amp; Âm thanh sống động: </a:t>
            </a:r>
            <a:r>
              <a:rPr sz="1050">
                <a:solidFill>
                  <a:srgbClr val="B9AA9B"/>
                </a:solidFill>
              </a:rPr>
              <a:t>Phong cách võ quán ấm cúng, hiệu ứng nước ép và rung giật kịch tính.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257800" cy="3200400"/>
          </a:xfrm>
          <a:prstGeom prst="roundRect">
            <a:avLst/>
          </a:prstGeom>
          <a:solidFill>
            <a:srgbClr val="221811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6916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F39C12"/>
                </a:solidFill>
              </a:defRPr>
            </a:pPr>
            <a:r>
              <a:t>🚀 HƯỚNG PHÁT TRIỂN TRONG TƯƠNG LAI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14884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✦ Chế độ chơi mới: </a:t>
            </a:r>
            <a:r>
              <a:rPr sz="1050">
                <a:solidFill>
                  <a:srgbClr val="B9AA9B"/>
                </a:solidFill>
              </a:rPr>
              <a:t>Bổ sung Zen Mode (không bom) và Arcade Mode (tính giờ 60s).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✦ Trái cây kỹ năng đặc biệt: </a:t>
            </a:r>
            <a:r>
              <a:rPr sz="1050">
                <a:solidFill>
                  <a:srgbClr val="B9AA9B"/>
                </a:solidFill>
              </a:rPr>
              <a:t>Chuối Freeze (đóng băng thời gian), Chuối Frenzy (bão quả).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✦ Tùy biến Kiếm &amp; Võ Quán: </a:t>
            </a:r>
            <a:r>
              <a:rPr sz="1050">
                <a:solidFill>
                  <a:srgbClr val="B9AA9B"/>
                </a:solidFill>
              </a:rPr>
              <a:t>Cửa hàng Skin kiếm (lửa, băng, sấm sét) và đổi phông nền võ đường.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FFCF5"/>
                </a:solidFill>
              </a:rPr>
              <a:t>✦ Bảng xếp hạng Online: </a:t>
            </a:r>
            <a:r>
              <a:rPr sz="1050">
                <a:solidFill>
                  <a:srgbClr val="B9AA9B"/>
                </a:solidFill>
              </a:rPr>
              <a:t>Tích hợp Leaderboard trực tuyến để người chơi tranh tài toàn cầu.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19472"/>
            <a:ext cx="10728655" cy="1353312"/>
          </a:xfrm>
          <a:prstGeom prst="roundRect">
            <a:avLst/>
          </a:prstGeom>
          <a:solidFill>
            <a:srgbClr val="302218"/>
          </a:solidFill>
          <a:ln w="15240">
            <a:solidFill>
              <a:srgbClr val="DCA8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362895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700">
                <a:solidFill>
                  <a:srgbClr val="FCC64B"/>
                </a:solidFill>
              </a:defRPr>
            </a:pPr>
            <a:r>
              <a:t>CHÂN THÀNH CẢM ƠN THẦY CÔ VÀ HỘI ĐỒNG ĐÃ LẮNG NGHE!</a:t>
            </a:r>
          </a:p>
          <a:p>
            <a:pPr algn="ctr">
              <a:defRPr sz="1250">
                <a:solidFill>
                  <a:srgbClr val="FFFCF5"/>
                </a:solidFill>
              </a:defRPr>
            </a:pPr>
            <a:r>
              <a:t>Kính mời Quý Thầy Cô và các bạn đặt câu hỏi đóng góp cho đồ án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