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AC34B"/>
                </a:solidFill>
                <a:latin typeface="Segoe UI"/>
              </a:defRPr>
            </a:pPr>
            <a:r>
              <a:t>★  ĐỒ ÁN LẬP TRÌNH GAME 2D  •  CÔNG NGHỆ THÔNG TIN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AC34B"/>
                </a:solidFill>
                <a:latin typeface="Segoe UI"/>
              </a:defRPr>
            </a:pPr>
            <a:r>
              <a:t>FRUIT NINJA 2D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0E6"/>
                </a:solidFill>
                <a:latin typeface="Segoe UI"/>
              </a:defRPr>
            </a:pPr>
            <a:r>
              <a:t>Game Chém Hoa Quả Phong Cách Võ Quán Cổ Điển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200400"/>
            <a:ext cx="6858000" cy="36576"/>
          </a:xfrm>
          <a:prstGeom prst="rect">
            <a:avLst/>
          </a:prstGeom>
          <a:solidFill>
            <a:srgbClr val="EB7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3474720"/>
            <a:ext cx="6217920" cy="2011680"/>
          </a:xfrm>
          <a:prstGeom prst="roundRect">
            <a:avLst/>
          </a:prstGeom>
          <a:solidFill>
            <a:srgbClr val="20160F"/>
          </a:solidFill>
          <a:ln w="15240">
            <a:solidFill>
              <a:srgbClr val="64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80"/>
            <a:ext cx="5852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FAC34B"/>
                </a:solidFill>
                <a:latin typeface="Segoe UI"/>
              </a:rPr>
              <a:t>• Giảng viên hướng dẫn: </a:t>
            </a:r>
            <a:r>
              <a:rPr b="0" sz="1300">
                <a:solidFill>
                  <a:srgbClr val="F5F0E6"/>
                </a:solidFill>
                <a:latin typeface="Segoe UI"/>
              </a:rPr>
              <a:t>ThS. [Họ và Tên Giảng Viên]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AC34B"/>
                </a:solidFill>
                <a:latin typeface="Segoe UI"/>
              </a:rPr>
              <a:t>• Sinh viên thực hiện: </a:t>
            </a:r>
            <a:r>
              <a:rPr b="0" sz="1300">
                <a:solidFill>
                  <a:srgbClr val="F5F0E6"/>
                </a:solidFill>
                <a:latin typeface="Segoe UI"/>
              </a:rPr>
              <a:t>[Họ và Tên Sinh Viên]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AC34B"/>
                </a:solidFill>
                <a:latin typeface="Segoe UI"/>
              </a:rPr>
              <a:t>• Mã số sinh viên (MSSV): </a:t>
            </a:r>
            <a:r>
              <a:rPr b="0" sz="1300">
                <a:solidFill>
                  <a:srgbClr val="F5F0E6"/>
                </a:solidFill>
                <a:latin typeface="Segoe UI"/>
              </a:rPr>
              <a:t>[2xxxxxxx]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AC34B"/>
                </a:solidFill>
                <a:latin typeface="Segoe UI"/>
              </a:rPr>
              <a:t>• Nền tảng &amp; Công nghệ: </a:t>
            </a:r>
            <a:r>
              <a:rPr b="0" sz="1300">
                <a:solidFill>
                  <a:srgbClr val="F5F0E6"/>
                </a:solidFill>
                <a:latin typeface="Segoe UI"/>
              </a:rPr>
              <a:t>Unity Engine (URP 2D)  •  C# Scripting</a:t>
            </a:r>
          </a:p>
        </p:txBody>
      </p:sp>
      <p:pic>
        <p:nvPicPr>
          <p:cNvPr id="11" name="Picture 10" descr="Dưa hấ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2286000" cy="1285875"/>
          </a:xfrm>
          <a:prstGeom prst="rect">
            <a:avLst/>
          </a:prstGeom>
        </p:spPr>
      </p:pic>
      <p:pic>
        <p:nvPicPr>
          <p:cNvPr id="12" name="Picture 11" descr="bo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291840"/>
            <a:ext cx="1645920" cy="1004011"/>
          </a:xfrm>
          <a:prstGeom prst="rect">
            <a:avLst/>
          </a:prstGeom>
        </p:spPr>
      </p:pic>
      <p:pic>
        <p:nvPicPr>
          <p:cNvPr id="13" name="Picture 12" descr="C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93192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AC34B"/>
                </a:solidFill>
                <a:latin typeface="Segoe UI"/>
              </a:defRPr>
            </a:pPr>
            <a:r>
              <a:t>TỔNG QUAN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0E6"/>
                </a:solidFill>
                <a:latin typeface="Segoe UI"/>
              </a:defRPr>
            </a:pPr>
            <a:r>
              <a:t>LÝ DO CHỌN ĐỀ TÀI &amp; MỤC TIÊU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9AA96"/>
                </a:solidFill>
                <a:latin typeface="Segoe UI"/>
              </a:defRPr>
            </a:pPr>
            <a:r>
              <a:t>Định hướng nghiên cứu và hiện thực hóa sản phẩm game 2D tương tác trực quan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AC34B"/>
                </a:solidFill>
                <a:latin typeface="Segoe UI"/>
              </a:defRPr>
            </a:pPr>
            <a:r>
              <a:t>MỤC TIÊU 01  •  TÍNH CẤP THIẾT &amp; THỰC TIỄN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F5F0E6"/>
                </a:solidFill>
                <a:latin typeface="Segoe UI"/>
              </a:rPr>
              <a:t>✔ Lối chơi kinh điển: </a:t>
            </a:r>
            <a:r>
              <a:rPr b="0" sz="1150">
                <a:solidFill>
                  <a:srgbClr val="B9AA96"/>
                </a:solidFill>
                <a:latin typeface="Segoe UI"/>
              </a:rPr>
              <a:t>Fruit Ninja là tựa game casual có sức hút toàn cầu, tính giải trí cao, dễ tiếp cận với mọi đối tượng.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F0E6"/>
                </a:solidFill>
                <a:latin typeface="Segoe UI"/>
              </a:rPr>
              <a:t>✔ Tương tác tức thì: </a:t>
            </a:r>
            <a:r>
              <a:rPr b="0" sz="1150">
                <a:solidFill>
                  <a:srgbClr val="B9AA96"/>
                </a:solidFill>
                <a:latin typeface="Segoe UI"/>
              </a:rPr>
              <a:t>Đòi hỏi phản xạ nhanh, trải nghiệm xúc giác sảng khoái với vệt chém kiếm (Blade Slash).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F0E6"/>
                </a:solidFill>
                <a:latin typeface="Segoe UI"/>
              </a:rPr>
              <a:t>✔ Giá trị đồ án: </a:t>
            </a:r>
            <a:r>
              <a:rPr b="0" sz="1150">
                <a:solidFill>
                  <a:srgbClr val="B9AA96"/>
                </a:solidFill>
                <a:latin typeface="Segoe UI"/>
              </a:rPr>
              <a:t>Phù hợp hoàn hảo với khối lượng kiến thức đồ án chuyên ngành CNTT / Game Development.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EB7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7D19"/>
                </a:solidFill>
                <a:latin typeface="Segoe UI"/>
              </a:defRPr>
            </a:pPr>
            <a:r>
              <a:t>MỤC TIÊU 02  •  MỤC TIÊU KỸ THUẬT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65176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F5F0E6"/>
                </a:solidFill>
                <a:latin typeface="Segoe UI"/>
              </a:rPr>
              <a:t>✔ Làm chủ Unity 2D: </a:t>
            </a:r>
            <a:r>
              <a:rPr b="0" sz="1150">
                <a:solidFill>
                  <a:srgbClr val="B9AA96"/>
                </a:solidFill>
                <a:latin typeface="Segoe UI"/>
              </a:rPr>
              <a:t>Vận dụng thành thạo Rigidbody2D, CircleCollider2D và hệ thống Raycasting.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F0E6"/>
                </a:solidFill>
                <a:latin typeface="Segoe UI"/>
              </a:rPr>
              <a:t>✔ Tối ưu hóa bộ nhớ: </a:t>
            </a:r>
            <a:r>
              <a:rPr b="0" sz="1150">
                <a:solidFill>
                  <a:srgbClr val="B9AA96"/>
                </a:solidFill>
                <a:latin typeface="Segoe UI"/>
              </a:rPr>
              <a:t>Hiện thực giải pháp Object Pooling để triệt tiêu hiện tượng sụt FPS do Garbage Collector.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F0E6"/>
                </a:solidFill>
                <a:latin typeface="Segoe UI"/>
              </a:rPr>
              <a:t>✔ Mẫu thiết kế chuẩn: </a:t>
            </a:r>
            <a:r>
              <a:rPr b="0" sz="1150">
                <a:solidFill>
                  <a:srgbClr val="B9AA96"/>
                </a:solidFill>
                <a:latin typeface="Segoe UI"/>
              </a:rPr>
              <a:t>Ứng dụng mô hình Singleton, Event-driven và Component-based trong mã nguồn C#.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AF50"/>
                </a:solidFill>
                <a:latin typeface="Segoe UI"/>
              </a:defRPr>
            </a:pPr>
            <a:r>
              <a:t>MỤC TIÊU 03  •  MỤC TIÊU SẢN PHẨM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65176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F5F0E6"/>
                </a:solidFill>
                <a:latin typeface="Segoe UI"/>
              </a:rPr>
              <a:t>✔ Mượt mà 60 FPS: </a:t>
            </a:r>
            <a:r>
              <a:rPr b="0" sz="1150">
                <a:solidFill>
                  <a:srgbClr val="B9AA96"/>
                </a:solidFill>
                <a:latin typeface="Segoe UI"/>
              </a:rPr>
              <a:t>Game vận hành ổn định trên cả máy tính cấu hình phổ thông lẫn thiết bị cảm ứng.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F0E6"/>
                </a:solidFill>
                <a:latin typeface="Segoe UI"/>
              </a:rPr>
              <a:t>✔ Hiệu ứng chân thực: </a:t>
            </a:r>
            <a:r>
              <a:rPr b="0" sz="1150">
                <a:solidFill>
                  <a:srgbClr val="B9AA96"/>
                </a:solidFill>
                <a:latin typeface="Segoe UI"/>
              </a:rPr>
              <a:t>Âm thanh chém, tiếng nổ bom, hiệu ứng té nước ép và rung màn hình (Camera Shake).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F0E6"/>
                </a:solidFill>
                <a:latin typeface="Segoe UI"/>
              </a:rPr>
              <a:t>✔ Khả năng mở rộng: </a:t>
            </a:r>
            <a:r>
              <a:rPr b="0" sz="1150">
                <a:solidFill>
                  <a:srgbClr val="B9AA96"/>
                </a:solidFill>
                <a:latin typeface="Segoe UI"/>
              </a:rPr>
              <a:t>Dễ dàng bổ sung thêm trái cây đặc biệt, hiệu ứng kiếm và chế độ chơi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AC34B"/>
                </a:solidFill>
                <a:latin typeface="Segoe UI"/>
              </a:defRPr>
            </a:pPr>
            <a:r>
              <a:t>CƠ CHẾ TRÒ CHƠI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0E6"/>
                </a:solidFill>
                <a:latin typeface="Segoe UI"/>
              </a:defRPr>
            </a:pPr>
            <a:r>
              <a:t>TỔNG QUAN GAMEPLAY &amp; LUẬT CHƠI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9AA96"/>
                </a:solidFill>
                <a:latin typeface="Segoe UI"/>
              </a:defRPr>
            </a:pPr>
            <a:r>
              <a:t>Lối chơi trực quan, tiết tấu nhanh, đề cao sự tập trung và phản xạ chính xác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224028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AC34B"/>
                </a:solidFill>
                <a:latin typeface="Segoe UI"/>
              </a:defRPr>
            </a:pPr>
            <a:r>
              <a:t>⚔️  VỆT KIẾM CHÉM (BLADE SLICE)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Thao tác điều khiển: </a:t>
            </a:r>
            <a:r>
              <a:rPr b="0" sz="1100">
                <a:solidFill>
                  <a:srgbClr val="B9AA96"/>
                </a:solidFill>
                <a:latin typeface="Segoe UI"/>
              </a:rPr>
              <a:t>Người chơi nhấn giữ chuột hoặc chạm ngón tay vuốt ngang màn hình.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Điều kiện chém hợp lệ: </a:t>
            </a:r>
            <a:r>
              <a:rPr b="0" sz="1100">
                <a:solidFill>
                  <a:srgbClr val="B9AA96"/>
                </a:solidFill>
                <a:latin typeface="Segoe UI"/>
              </a:rPr>
              <a:t>Vận tốc di chuyển phải vượt ngưỡng Min Velocity để kích hoạt đường kiếm sắc bén.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Độ chính xác cao: </a:t>
            </a:r>
            <a:r>
              <a:rPr b="0" sz="1100">
                <a:solidFill>
                  <a:srgbClr val="B9AA96"/>
                </a:solidFill>
                <a:latin typeface="Segoe UI"/>
              </a:rPr>
              <a:t>Vệt sáng TrailRenderer bám sát thao tác, tạo cảm giác nhập vai kiếm khách chân thực.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257800" cy="224028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5564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4CAF50"/>
                </a:solidFill>
                <a:latin typeface="Segoe UI"/>
              </a:defRPr>
            </a:pPr>
            <a:r>
              <a:t>🍉  QUẢ NẢY VẬT LÝ TỰ NHIÊN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Quỹ đạo Parabol: </a:t>
            </a:r>
            <a:r>
              <a:rPr b="0" sz="1100">
                <a:solidFill>
                  <a:srgbClr val="B9AA96"/>
                </a:solidFill>
                <a:latin typeface="Segoe UI"/>
              </a:rPr>
              <a:t>Trái cây bắn lên ngẫu nhiên từ đáy màn hình với góc nảy và lực văng ngẫu nhiên.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Đa dạng chủng loại: </a:t>
            </a:r>
            <a:r>
              <a:rPr b="0" sz="1100">
                <a:solidFill>
                  <a:srgbClr val="B9AA96"/>
                </a:solidFill>
                <a:latin typeface="Segoe UI"/>
              </a:rPr>
              <a:t>Táo, Chuối, Cam, Dâu tây, Dưa hấu - mỗi loại mang màu sắc và kích thước riêng biệt.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Tách đôi đẹp mắt: </a:t>
            </a:r>
            <a:r>
              <a:rPr b="0" sz="1100">
                <a:solidFill>
                  <a:srgbClr val="B9AA96"/>
                </a:solidFill>
                <a:latin typeface="Segoe UI"/>
              </a:rPr>
              <a:t>Khi bị chém trúng, quả tách đôi thành 2 nửa FruitHalf văng xoay sang hai bên.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257800" cy="224028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7880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DC3223"/>
                </a:solidFill>
                <a:latin typeface="Segoe UI"/>
              </a:defRPr>
            </a:pPr>
            <a:r>
              <a:t>💣  CHƯỚNG NGẠI VẬT &amp; BẪY BOM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Yếu tố bất ngờ: </a:t>
            </a:r>
            <a:r>
              <a:rPr b="0" sz="1100">
                <a:solidFill>
                  <a:srgbClr val="B9AA96"/>
                </a:solidFill>
                <a:latin typeface="Segoe UI"/>
              </a:rPr>
              <a:t>Bom đen lẫn vào giữa các đợt bắn trái cây để thử thách độ tinh mắt của người chơi.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Hậu quả nghiêm trọng: </a:t>
            </a:r>
            <a:r>
              <a:rPr b="0" sz="1100">
                <a:solidFill>
                  <a:srgbClr val="B9AA96"/>
                </a:solidFill>
                <a:latin typeface="Segoe UI"/>
              </a:rPr>
              <a:t>Chém trúng bom lập tức kích hoạt nổ, rung màn hình và bị trừ 1 mạng sống.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Chiến thuật né tránh: </a:t>
            </a:r>
            <a:r>
              <a:rPr b="0" sz="1100">
                <a:solidFill>
                  <a:srgbClr val="B9AA96"/>
                </a:solidFill>
                <a:latin typeface="Segoe UI"/>
              </a:rPr>
              <a:t>Đòi hỏi người chơi kiểm soát đường kiếm dừng đúng lúc để không chạm trúng bom.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69080"/>
            <a:ext cx="5257800" cy="224028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17880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B7D19"/>
                </a:solidFill>
                <a:latin typeface="Segoe UI"/>
              </a:defRPr>
            </a:pPr>
            <a:r>
              <a:t>❤️  MẠNG SỐNG &amp; ĐỘ KHÓ LŨY TIẾN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5720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Khởi đầu với 3 Tim: </a:t>
            </a:r>
            <a:r>
              <a:rPr b="0" sz="1100">
                <a:solidFill>
                  <a:srgbClr val="B9AA96"/>
                </a:solidFill>
                <a:latin typeface="Segoe UI"/>
              </a:rPr>
              <a:t>Người chơi sở hữu 3 mạng sống; mất hết 3 mạng trò chơi sẽ kết thúc (Game Over).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Lối chơi xả stress: </a:t>
            </a:r>
            <a:r>
              <a:rPr b="0" sz="1100">
                <a:solidFill>
                  <a:srgbClr val="B9AA96"/>
                </a:solidFill>
                <a:latin typeface="Segoe UI"/>
              </a:rPr>
              <a:t>Quả rơi xuống màn hình không bị trừ mạng, giúp game thủ tập trung vào việc tạo combo.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F5F0E6"/>
                </a:solidFill>
                <a:latin typeface="Segoe UI"/>
              </a:rPr>
              <a:t>• Độ khó tăng liên tục: </a:t>
            </a:r>
            <a:r>
              <a:rPr b="0" sz="1100">
                <a:solidFill>
                  <a:srgbClr val="B9AA96"/>
                </a:solidFill>
                <a:latin typeface="Segoe UI"/>
              </a:rPr>
              <a:t>Mỗi 10 giây, tần suất bắn và số lượng quả tăng lên 1.15 lần, đẩy nhịp độ lên cao trào.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AC34B"/>
                </a:solidFill>
                <a:latin typeface="Segoe UI"/>
              </a:defRPr>
            </a:pPr>
            <a:r>
              <a:t>CÔNG NGHỆ ỨNG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0E6"/>
                </a:solidFill>
                <a:latin typeface="Segoe UI"/>
              </a:defRPr>
            </a:pPr>
            <a:r>
              <a:t>NGĂN XẾP CÔNG NGHỆ &amp; CÔNG CỤ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9AA96"/>
                </a:solidFill>
                <a:latin typeface="Segoe UI"/>
              </a:defRPr>
            </a:pPr>
            <a:r>
              <a:t>Lựa chọn công nghệ chuẩn ngành game, đảm bảo tính ổn định và khả năng tối ưu cao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23744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2304288" cy="868680"/>
          </a:xfrm>
          <a:prstGeom prst="rect">
            <a:avLst/>
          </a:prstGeom>
          <a:solidFill>
            <a:srgbClr val="382619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24942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AC34B"/>
                </a:solidFill>
                <a:latin typeface="Segoe UI"/>
              </a:defRPr>
            </a:pPr>
            <a:r>
              <a:t>UNITY ENGINE</a:t>
            </a:r>
          </a:p>
          <a:p>
            <a:pPr>
              <a:defRPr sz="1000">
                <a:solidFill>
                  <a:srgbClr val="B9AA96"/>
                </a:solidFill>
                <a:latin typeface="Segoe UI"/>
              </a:defRPr>
            </a:pPr>
            <a:r>
              <a:t>2022 / 6 LTS (URP 2D)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224942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Công cụ làm game hàng đầu thế giới cho thể loại 2D/3D.</a:t>
            </a:r>
          </a:p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Universal Render Pipeline (URP 2D) tối ưu ánh sáng &amp; đồ họa.</a:t>
            </a:r>
          </a:p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Tương thích đa nền tảng: PC Windows, WebGL, Android, 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645920"/>
            <a:ext cx="2523744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75304" y="1783080"/>
            <a:ext cx="2304288" cy="868680"/>
          </a:xfrm>
          <a:prstGeom prst="rect">
            <a:avLst/>
          </a:prstGeom>
          <a:solidFill>
            <a:srgbClr val="382619"/>
          </a:solidFill>
          <a:ln w="12700">
            <a:solidFill>
              <a:srgbClr val="EB7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1828800"/>
            <a:ext cx="224942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EB7D19"/>
                </a:solidFill>
                <a:latin typeface="Segoe UI"/>
              </a:defRPr>
            </a:pPr>
            <a:r>
              <a:t>NGÔN NGỮ C#</a:t>
            </a:r>
          </a:p>
          <a:p>
            <a:pPr>
              <a:defRPr sz="1000">
                <a:solidFill>
                  <a:srgbClr val="B9AA96"/>
                </a:solidFill>
                <a:latin typeface="Segoe UI"/>
              </a:defRPr>
            </a:pPr>
            <a:r>
              <a:t>Object-Oriented Programming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788920"/>
            <a:ext cx="224942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Lập trình toàn bộ Gameplay logic, Physics &amp; Event handling.</a:t>
            </a:r>
          </a:p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Tận dụng Generic Collections (Queue, List, HashSet) tối ưu tốc độ.</a:t>
            </a:r>
          </a:p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Tách biệt rõ ràng các phân hệ xử lý bằng Design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45920"/>
            <a:ext cx="2523744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83080"/>
            <a:ext cx="2304288" cy="868680"/>
          </a:xfrm>
          <a:prstGeom prst="rect">
            <a:avLst/>
          </a:prstGeom>
          <a:solidFill>
            <a:srgbClr val="38261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828800"/>
            <a:ext cx="224942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4CAF50"/>
                </a:solidFill>
                <a:latin typeface="Segoe UI"/>
              </a:defRPr>
            </a:pPr>
            <a:r>
              <a:t>VẬT LÝ UNITY 2D</a:t>
            </a:r>
          </a:p>
          <a:p>
            <a:pPr>
              <a:defRPr sz="1000">
                <a:solidFill>
                  <a:srgbClr val="B9AA96"/>
                </a:solidFill>
                <a:latin typeface="Segoe UI"/>
              </a:defRPr>
            </a:pPr>
            <a:r>
              <a:t>Physics2D &amp; Collision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788920"/>
            <a:ext cx="224942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Rigidbody2D: Mô phỏng trọng lực g=-9.8m/s² và quỹ đạo Parabol chân thực.</a:t>
            </a:r>
          </a:p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Raycast2D: Tính toán đường cắt kiếm siêu tốc không độ trễ.</a:t>
            </a:r>
          </a:p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CircleCollider2D &amp; LayerMask: Phân tầng Fruit / Bomb độc lập.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1645920"/>
            <a:ext cx="2523744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3416" y="1783080"/>
            <a:ext cx="2304288" cy="868680"/>
          </a:xfrm>
          <a:prstGeom prst="rect">
            <a:avLst/>
          </a:prstGeom>
          <a:solidFill>
            <a:srgbClr val="382619"/>
          </a:solidFill>
          <a:ln w="12700">
            <a:solidFill>
              <a:srgbClr val="DC3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1828800"/>
            <a:ext cx="2249424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DC3223"/>
                </a:solidFill>
                <a:latin typeface="Segoe UI"/>
              </a:defRPr>
            </a:pPr>
            <a:r>
              <a:t>GRAPHICS &amp; AUDIO</a:t>
            </a:r>
          </a:p>
          <a:p>
            <a:pPr>
              <a:defRPr sz="1000">
                <a:solidFill>
                  <a:srgbClr val="B9AA96"/>
                </a:solidFill>
                <a:latin typeface="Segoe UI"/>
              </a:defRPr>
            </a:pPr>
            <a:r>
              <a:t>Assets &amp; Post-Processing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788920"/>
            <a:ext cx="224942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Sprite 2D &amp; TextMeshPro: Hiển thị font chữ và UI sắc nét chuẩn HD.</a:t>
            </a:r>
          </a:p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TrailRenderer: Vẽ vệt kiếm phát sáng chuyển động mượt mà.</a:t>
            </a:r>
          </a:p>
          <a:p>
            <a:pPr>
              <a:spcAft>
                <a:spcPts val="1200"/>
              </a:spcAft>
              <a:defRPr sz="1100">
                <a:solidFill>
                  <a:srgbClr val="F5F0E6"/>
                </a:solidFill>
                <a:latin typeface="Segoe UI"/>
              </a:defRPr>
            </a:pPr>
            <a:r>
              <a:t>❖ Unity Audio Source: Hiệu ứng âm thanh chém kiếm &amp; bom nổ sống động.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AC34B"/>
                </a:solidFill>
                <a:latin typeface="Segoe UI"/>
              </a:defRPr>
            </a:pPr>
            <a:r>
              <a:t>THIẾT KẾ PHẦN MỀM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0E6"/>
                </a:solidFill>
                <a:latin typeface="Segoe UI"/>
              </a:defRPr>
            </a:pPr>
            <a:r>
              <a:t>KIẾN TRÚC HỆ THỐNG &amp; CÁC MODULE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9AA96"/>
                </a:solidFill>
                <a:latin typeface="Segoe UI"/>
              </a:defRPr>
            </a:pPr>
            <a:r>
              <a:t>Tổ chức mã nguồn theo mô hình Component-Based kết hợp Singleton Pattern vững chắc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AC34B"/>
                </a:solidFill>
              </a:defRPr>
            </a:pPr>
            <a:r>
              <a:t>MÔ HÌNH QUẢN LÝ TẬP TRUNG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3749039" cy="566928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76856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AC34B"/>
                </a:solidFill>
              </a:defRPr>
            </a:pPr>
            <a:r>
              <a:t>★ GameManager</a:t>
            </a:r>
          </a:p>
          <a:p>
            <a:pPr>
              <a:defRPr sz="950">
                <a:solidFill>
                  <a:srgbClr val="B9AA96"/>
                </a:solidFill>
              </a:defRPr>
            </a:pPr>
            <a:r>
              <a:t>Quản lý Game State, Mạng sống, Bộ đếm độ khó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98648"/>
            <a:ext cx="3749039" cy="566928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35224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4CAF50"/>
                </a:solidFill>
              </a:defRPr>
            </a:pPr>
            <a:r>
              <a:t>★ ScoreManager</a:t>
            </a:r>
          </a:p>
          <a:p>
            <a:pPr>
              <a:defRPr sz="950">
                <a:solidFill>
                  <a:srgbClr val="B9AA96"/>
                </a:solidFill>
              </a:defRPr>
            </a:pPr>
            <a:r>
              <a:t>Lưu trữ Điểm số, Combo Streak, High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57016"/>
            <a:ext cx="3749039" cy="566928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EB7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93592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EB7D19"/>
                </a:solidFill>
              </a:defRPr>
            </a:pPr>
            <a:r>
              <a:t>★ UIManager</a:t>
            </a:r>
          </a:p>
          <a:p>
            <a:pPr>
              <a:defRPr sz="950">
                <a:solidFill>
                  <a:srgbClr val="B9AA96"/>
                </a:solidFill>
              </a:defRPr>
            </a:pPr>
            <a:r>
              <a:t>Cập nhật HUD, Màn hình Menu, Paused, Game 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15384"/>
            <a:ext cx="3749039" cy="566928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F5F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5F0E6"/>
                </a:solidFill>
              </a:defRPr>
            </a:pPr>
            <a:r>
              <a:t>★ FruitSpawner</a:t>
            </a:r>
          </a:p>
          <a:p>
            <a:pPr>
              <a:defRPr sz="950">
                <a:solidFill>
                  <a:srgbClr val="B9AA96"/>
                </a:solidFill>
              </a:defRPr>
            </a:pPr>
            <a:r>
              <a:t>Tính toán nhịp độ bắn, tạo góc nảy &amp; lực đẩy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73752"/>
            <a:ext cx="3749039" cy="566928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DC3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10328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DC3223"/>
                </a:solidFill>
              </a:defRPr>
            </a:pPr>
            <a:r>
              <a:t>★ ObjectPool</a:t>
            </a:r>
          </a:p>
          <a:p>
            <a:pPr>
              <a:defRPr sz="950">
                <a:solidFill>
                  <a:srgbClr val="B9AA96"/>
                </a:solidFill>
              </a:defRPr>
            </a:pPr>
            <a:r>
              <a:t>Kho lưu trữ tái sử dụng Fruit, HalfFruit &amp; Bomb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532120"/>
            <a:ext cx="3749039" cy="566928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68696"/>
            <a:ext cx="3566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AC34B"/>
                </a:solidFill>
              </a:defRPr>
            </a:pPr>
            <a:r>
              <a:t>★ BladeController</a:t>
            </a:r>
          </a:p>
          <a:p>
            <a:pPr>
              <a:defRPr sz="950">
                <a:solidFill>
                  <a:srgbClr val="B9AA96"/>
                </a:solidFill>
              </a:defRPr>
            </a:pPr>
            <a:r>
              <a:t>Bắt sự kiện vuốt chuột, tính vận tốc &amp; Raycast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645920"/>
            <a:ext cx="6382512" cy="14630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71907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FAC34B"/>
                </a:solidFill>
              </a:defRPr>
            </a:pPr>
            <a:r>
              <a:t>MẪU THIẾT KẾ SINGLETON (SINGLETON PATTERN)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1993392"/>
            <a:ext cx="6035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50">
                <a:solidFill>
                  <a:srgbClr val="F5F0E6"/>
                </a:solidFill>
              </a:rPr>
              <a:t>✔ Cơ chế hoạt động: </a:t>
            </a:r>
            <a:r>
              <a:rPr b="0" sz="1050">
                <a:solidFill>
                  <a:srgbClr val="B9AA96"/>
                </a:solidFill>
              </a:rPr>
              <a:t>Đảm bảo mỗi Manager (GameManager, ScoreManager, UIManager) chỉ có 1 thực thể duy nhất tồn tại.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F5F0E6"/>
                </a:solidFill>
              </a:rPr>
              <a:t>✔ Ưu điểm vượt trội: </a:t>
            </a:r>
            <a:r>
              <a:rPr b="0" sz="1050">
                <a:solidFill>
                  <a:srgbClr val="B9AA96"/>
                </a:solidFill>
              </a:rPr>
              <a:t>Các script khác dễ dàng truy cập thông qua `GameManager.Instance` mà không cần tham chiếu kéo thả thủ công trên Inspector.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F5F0E6"/>
                </a:solidFill>
              </a:rPr>
              <a:t>✔ Bảo toàn dữ liệu: </a:t>
            </a:r>
            <a:r>
              <a:rPr b="0" sz="1050">
                <a:solidFill>
                  <a:srgbClr val="B9AA96"/>
                </a:solidFill>
              </a:rPr>
              <a:t>Duy trì trạng thái xuyên suốt quá trình chơi mà không bị mất dữ liệu giữa các lần Reset.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3227832"/>
            <a:ext cx="6382512" cy="14630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3300984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EB7D19"/>
                </a:solidFill>
              </a:defRPr>
            </a:pPr>
            <a:r>
              <a:t>GIAO TIẾP EVENT-DRIVEN &amp; LOOSE COUPLING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575304"/>
            <a:ext cx="6035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50">
                <a:solidFill>
                  <a:srgbClr val="F5F0E6"/>
                </a:solidFill>
              </a:rPr>
              <a:t>✔ Tách biệt trách nhiệm (Separation of Concerns): </a:t>
            </a:r>
            <a:r>
              <a:rPr b="0" sz="1050">
                <a:solidFill>
                  <a:srgbClr val="B9AA96"/>
                </a:solidFill>
              </a:rPr>
              <a:t>Logic tính điểm hoàn toàn tách rời logic hiển thị giao diện UI.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F5F0E6"/>
                </a:solidFill>
              </a:rPr>
              <a:t>✔ Phản xạ thời gian thực: </a:t>
            </a:r>
            <a:r>
              <a:rPr b="0" sz="1050">
                <a:solidFill>
                  <a:srgbClr val="B9AA96"/>
                </a:solidFill>
              </a:rPr>
              <a:t>Khi quả bị chém, Fruit gọi `ScoreManager.AddScore()`, sau đó ScoreManager tự động báo cho `UIManager` cập nhật TextMeshPro.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4809744"/>
            <a:ext cx="6382512" cy="14630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4882896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50">
                <a:solidFill>
                  <a:srgbClr val="4CAF50"/>
                </a:solidFill>
              </a:defRPr>
            </a:pPr>
            <a:r>
              <a:t>TỐI ƯU HÓA LUỒNG XỬ LÝ (GAME LOOP)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5157216"/>
            <a:ext cx="6035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50">
                <a:solidFill>
                  <a:srgbClr val="F5F0E6"/>
                </a:solidFill>
              </a:rPr>
              <a:t>✔ Vòng lặp Update tinh gọn: </a:t>
            </a:r>
            <a:r>
              <a:rPr b="0" sz="1050">
                <a:solidFill>
                  <a:srgbClr val="B9AA96"/>
                </a:solidFill>
              </a:rPr>
              <a:t>Chỉ xử lý logic chém và spawn khi State đang ở `GameState.Playing`.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F5F0E6"/>
                </a:solidFill>
              </a:rPr>
              <a:t>✔ Kiểm soát thời gian (TimeScale): </a:t>
            </a:r>
            <a:r>
              <a:rPr b="0" sz="1050">
                <a:solidFill>
                  <a:srgbClr val="B9AA96"/>
                </a:solidFill>
              </a:rPr>
              <a:t>Dừng game tức thì (`Time.timeScale = 0`) khi Pause hoặc Game Over mà không gây lỗi luồng vật lý.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AC34B"/>
                </a:solidFill>
                <a:latin typeface="Segoe UI"/>
              </a:defRPr>
            </a:pPr>
            <a:r>
              <a:t>THUẬT TOÁN XỬ LÝ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0E6"/>
                </a:solidFill>
                <a:latin typeface="Segoe UI"/>
              </a:defRPr>
            </a:pPr>
            <a:r>
              <a:t>KỸ THUẬT CỐT LÕI: VẾT CHÉM &amp; PHÂN TÁCH TRÁI CÂY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9AA96"/>
                </a:solidFill>
                <a:latin typeface="Segoe UI"/>
              </a:defRPr>
            </a:pPr>
            <a:r>
              <a:t>Kết hợp mượt mà giữa tính toán hình học Vector2, Raycast2D và hiệu ứng vật lý Rigidbody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AC34B"/>
                </a:solidFill>
              </a:defRPr>
            </a:pPr>
            <a:r>
              <a:t>01. NHẬN DIỆN VẾT CHÉM (RAYCAST 2D)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❖ Thuật toán bám đuổi tọa độ: </a:t>
            </a:r>
            <a:r>
              <a:rPr b="0" sz="1050">
                <a:solidFill>
                  <a:srgbClr val="B9AA96"/>
                </a:solidFill>
              </a:rPr>
              <a:t>Liên tục lưu lại vị trí chuột ở frame trước (`previousWorldPos`) và frame hiện tại (`currentWorldPos`).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❖ Ngưỡng vận tốc (Min Velocity): </a:t>
            </a:r>
            <a:r>
              <a:rPr b="0" sz="1050">
                <a:solidFill>
                  <a:srgbClr val="B9AA96"/>
                </a:solidFill>
              </a:rPr>
              <a:t>Tính `velocity = distance / deltaTime`. Nếu vận tốc nhỏ hơn ngưỡng 0.5m/s thì không tính là nhát chém hợp lệ.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❖ Raycasting chính xác 100%: </a:t>
            </a:r>
            <a:r>
              <a:rPr b="0" sz="1050">
                <a:solidFill>
                  <a:srgbClr val="B9AA96"/>
                </a:solidFill>
              </a:rPr>
              <a:t>Bắn tia `Physics2D.Linecast()` giữa 2 tọa độ. Đảm bảo dù chuột quẹt nhanh đến đâu cũng không bị lọt qua khe va chạm.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❖ Bộ lọc HashSet (Anti-duplicate): </a:t>
            </a:r>
            <a:r>
              <a:rPr b="0" sz="1050">
                <a:solidFill>
                  <a:srgbClr val="B9AA96"/>
                </a:solidFill>
              </a:rPr>
              <a:t>Sử dụng `HashSet&lt;EntityId&gt;` để đảm bảo mỗi quả chỉ bị chém trúng 1 lần trong 1 nhát quẹt.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EB7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EB7D19"/>
                </a:solidFill>
              </a:defRPr>
            </a:pPr>
            <a:r>
              <a:t>02. CƠ CHẾ CẮT ĐÔI QUẢ (FRUIT SPLITTING)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❖ Thay thế tức thời: </a:t>
            </a:r>
            <a:r>
              <a:rPr b="0" sz="1050">
                <a:solidFill>
                  <a:srgbClr val="B9AA96"/>
                </a:solidFill>
              </a:rPr>
              <a:t>Ngay khi va chạm xảy ra, quả nguyên lập tức ẩn đi (`SetActive: false`) và trả về Pool.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❖ Kích hoạt 2 nửa FruitHalf: </a:t>
            </a:r>
            <a:r>
              <a:rPr b="0" sz="1050">
                <a:solidFill>
                  <a:srgbClr val="B9AA96"/>
                </a:solidFill>
              </a:rPr>
              <a:t>Lấy 2 nửa quả đã được gán sẵn Sprite bán nguyệt tương ứng từ Object Pool.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❖ Gia tốc vật lý trái chiều: </a:t>
            </a:r>
            <a:r>
              <a:rPr b="0" sz="1050">
                <a:solidFill>
                  <a:srgbClr val="B9AA96"/>
                </a:solidFill>
              </a:rPr>
              <a:t>Gán vận tốc tức thời: Nửa trái văng sang góc trái (-X), nửa phải văng sang góc phải (+X).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❖ Hiệu ứng xoay ngẫu nhiên: </a:t>
            </a:r>
            <a:r>
              <a:rPr b="0" sz="1050">
                <a:solidFill>
                  <a:srgbClr val="B9AA96"/>
                </a:solidFill>
              </a:rPr>
              <a:t>Áp dụng `AddTorque(randomSpin)` khiến 2 nửa quả xoay tròn khi rơi tự do xuống dưới.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4CAF50"/>
                </a:solidFill>
              </a:defRPr>
            </a:pPr>
            <a:r>
              <a:t>03. HIỆU ỨNG THỊ GIÁC &amp; PHẢN HỒI XÚC GIÁC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❖ TrailRenderer động: </a:t>
            </a:r>
            <a:r>
              <a:rPr b="0" sz="1050">
                <a:solidFill>
                  <a:srgbClr val="B9AA96"/>
                </a:solidFill>
              </a:rPr>
              <a:t>Vệt kiếm ninja phát sáng, tự động co nhỏ đuôi theo thời gian (`time = 0.15s`), tạo cảm giác bén ngọt.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❖ Camera Shake (Rung chấn): </a:t>
            </a:r>
            <a:r>
              <a:rPr b="0" sz="1050">
                <a:solidFill>
                  <a:srgbClr val="B9AA96"/>
                </a:solidFill>
              </a:rPr>
              <a:t>Khi chém trúng bom hoặc combo lớn, camera rung giật trong 0.2s để tạo ấn tượng va đập cực mạnh.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❖ Splash Particles: </a:t>
            </a:r>
            <a:r>
              <a:rPr b="0" sz="1050">
                <a:solidFill>
                  <a:srgbClr val="B9AA96"/>
                </a:solidFill>
              </a:rPr>
              <a:t>Hạt bụi nước ép trái cây tung tóe tại điểm chém, gia tăng sự phấn khích cho người chơi.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AC34B"/>
                </a:solidFill>
                <a:latin typeface="Segoe UI"/>
              </a:defRPr>
            </a:pPr>
            <a:r>
              <a:t>TỐI ƯU HÓA HIỆU NĂNG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0E6"/>
                </a:solidFill>
                <a:latin typeface="Segoe UI"/>
              </a:defRPr>
            </a:pPr>
            <a:r>
              <a:t>HỆ THỐNG SPAWNER &amp; GIẢI PHÁP OBJECT POOLING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9AA96"/>
                </a:solidFill>
                <a:latin typeface="Segoe UI"/>
              </a:defRPr>
            </a:pPr>
            <a:r>
              <a:t>Đảm bảo game luôn duy trì 60+ FPS ổn định, triệt tiêu tình trạng nghẽn bộ nhớ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AC34B"/>
                </a:solidFill>
              </a:defRPr>
            </a:pPr>
            <a:r>
              <a:t>🎯 THUẬT TOÁN BẮN QUẢ (FRUIT SPAWNER)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709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50">
                <a:solidFill>
                  <a:srgbClr val="F5F0E6"/>
                </a:solidFill>
              </a:rPr>
              <a:t>✔ Vị trí bắn ngẫu nhiên: </a:t>
            </a:r>
            <a:r>
              <a:rPr b="0" sz="1100">
                <a:solidFill>
                  <a:srgbClr val="B9AA96"/>
                </a:solidFill>
              </a:rPr>
              <a:t>Trái cây xuất hiện dọc mép dưới màn hình (X từ -ScreenBound đến +ScreenBound).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5F0E6"/>
                </a:solidFill>
              </a:rPr>
              <a:t>✔ Góc bắn thông minh: </a:t>
            </a:r>
            <a:r>
              <a:rPr b="0" sz="1100">
                <a:solidFill>
                  <a:srgbClr val="B9AA96"/>
                </a:solidFill>
              </a:rPr>
              <a:t>Góc nảy luôn hướng về tâm màn hình (Center Screen), tránh việc quả bị văng ra khỏi tầm nhìn của người chơi.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5F0E6"/>
                </a:solidFill>
              </a:rPr>
              <a:t>✔ Lực nảy Parabol ngẫu nhiên: </a:t>
            </a:r>
            <a:r>
              <a:rPr b="0" sz="1100">
                <a:solidFill>
                  <a:srgbClr val="B9AA96"/>
                </a:solidFill>
              </a:rPr>
              <a:t>Áp dụng lực `AddForce(Vector2 * randomForce)` để chiều cao đỉnh rơi luôn đa dạng, tạo thử thách phong phú.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5F0E6"/>
                </a:solidFill>
              </a:rPr>
              <a:t>✔ Bộ điều phối đợt bắn (Waves): </a:t>
            </a:r>
            <a:r>
              <a:rPr b="0" sz="1100">
                <a:solidFill>
                  <a:srgbClr val="B9AA96"/>
                </a:solidFill>
              </a:rPr>
              <a:t>Xen kẽ giữa bắn quả đơn lẻ, bắn theo chùm (Multi-fruit) và bất ngờ lồng ghép bom nguy hiểm.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F5F0E6"/>
                </a:solidFill>
              </a:rPr>
              <a:t>✔ Hệ số khó lũy tiến (Difficulty Factor): </a:t>
            </a:r>
            <a:r>
              <a:rPr b="0" sz="1100">
                <a:solidFill>
                  <a:srgbClr val="B9AA96"/>
                </a:solidFill>
              </a:rPr>
              <a:t>Cứ mỗi 10 giây, chu kỳ nghỉ giữa các đợt bắn giảm dần, số lượng quả tăng lên.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5257800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EB7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2880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B7D19"/>
                </a:solidFill>
              </a:defRPr>
            </a:pPr>
            <a:r>
              <a:t>⚡ KỸ THUẬT TỐI ƯU OBJECT POOLING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377440"/>
            <a:ext cx="4709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50">
                <a:solidFill>
                  <a:srgbClr val="F5F0E6"/>
                </a:solidFill>
              </a:rPr>
              <a:t>★ Vấn đề của cách làm truyền thống: </a:t>
            </a:r>
            <a:r>
              <a:rPr b="0" sz="1100">
                <a:solidFill>
                  <a:srgbClr val="B9AA96"/>
                </a:solidFill>
              </a:rPr>
              <a:t>Liên tục gọi `Instantiate()` và `Destroy()` khiến bộ nhớ RAM bị phân mảnh, kích hoạt Garbage Collector (GC) gây giật lag hình ảnh.</a:t>
            </a:r>
          </a:p>
          <a:p>
            <a:pPr>
              <a:spcAft>
                <a:spcPts val="1200"/>
              </a:spcAft>
            </a:pPr>
            <a:r>
              <a:rPr b="1" sz="1150">
                <a:solidFill>
                  <a:srgbClr val="F5F0E6"/>
                </a:solidFill>
              </a:rPr>
              <a:t>★ Nguyên lý Object Pooling: </a:t>
            </a:r>
            <a:r>
              <a:rPr b="0" sz="1100">
                <a:solidFill>
                  <a:srgbClr val="B9AA96"/>
                </a:solidFill>
              </a:rPr>
              <a:t>Khởi tạo sẵn 1 danh sách (Pool) đối tượng quả và bom ngay khi nạp Scene. Giữ chúng ở trạng thái ẩn (`SetActive: false`).</a:t>
            </a:r>
          </a:p>
          <a:p>
            <a:pPr>
              <a:spcAft>
                <a:spcPts val="1200"/>
              </a:spcAft>
            </a:pPr>
            <a:r>
              <a:rPr b="1" sz="1150">
                <a:solidFill>
                  <a:srgbClr val="F5F0E6"/>
                </a:solidFill>
              </a:rPr>
              <a:t>★ Tái chế tức thời (Recycle): </a:t>
            </a:r>
            <a:r>
              <a:rPr b="0" sz="1100">
                <a:solidFill>
                  <a:srgbClr val="B9AA96"/>
                </a:solidFill>
              </a:rPr>
              <a:t>Khi cần quả mới, Spawner lấy từ Pool và kích hoạt lại. Khi quả rơi khỏi màn hình hoặc bị chém xong, tự động thu hồi về Pool.</a:t>
            </a:r>
          </a:p>
          <a:p>
            <a:pPr>
              <a:spcAft>
                <a:spcPts val="1200"/>
              </a:spcAft>
            </a:pPr>
            <a:r>
              <a:rPr b="1" sz="1150">
                <a:solidFill>
                  <a:srgbClr val="F5F0E6"/>
                </a:solidFill>
              </a:rPr>
              <a:t>★ Hiệu quả đo lường thực tế: </a:t>
            </a:r>
            <a:r>
              <a:rPr b="0" sz="1100">
                <a:solidFill>
                  <a:srgbClr val="B9AA96"/>
                </a:solidFill>
              </a:rPr>
              <a:t>Mức tiêu thụ CPU giảm 40%, thời gian dừng do GC đạt xấp xỉ 0ms, tốc độ khung hình duy trì mượt mà 60 FPS.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AC34B"/>
                </a:solidFill>
                <a:latin typeface="Segoe UI"/>
              </a:defRPr>
            </a:pPr>
            <a:r>
              <a:t>HỆ THỐNG TÍNH ĐIỂM &amp; SINH TỒN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0E6"/>
                </a:solidFill>
                <a:latin typeface="Segoe UI"/>
              </a:defRPr>
            </a:pPr>
            <a:r>
              <a:t>HỆ THỐNG ĐIỂM SỐ, COMBO STREAK &amp; MẠNG SỐNG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9AA96"/>
                </a:solidFill>
                <a:latin typeface="Segoe UI"/>
              </a:defRPr>
            </a:pPr>
            <a:r>
              <a:t>Tạo động lực cạnh tranh, tăng tính lôi cuốn và kịch tính trong từng ván chơi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AC34B"/>
                </a:solidFill>
              </a:defRPr>
            </a:pPr>
            <a:r>
              <a:t>01. CƠ CHẾ TÍNH ĐIỂM &amp; COMBO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Điểm chém cơ bản: </a:t>
            </a:r>
            <a:r>
              <a:rPr b="0" sz="1050">
                <a:solidFill>
                  <a:srgbClr val="B9AA96"/>
                </a:solidFill>
              </a:rPr>
              <a:t>Mỗi quả hoa quả chém trúng cộng trực tiếp +1 Điểm vào quỹ điểm.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Hệ thống Combo Streak: </a:t>
            </a:r>
            <a:r>
              <a:rPr b="0" sz="1050">
                <a:solidFill>
                  <a:srgbClr val="B9AA96"/>
                </a:solidFill>
              </a:rPr>
              <a:t>Nếu người chơi chém trúng từ 3 quả trở lên trong cùng 1 nhát quẹt chuột duy nhất: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Thưởng điểm cấp số nhân: </a:t>
            </a:r>
            <a:r>
              <a:rPr b="0" sz="1050">
                <a:solidFill>
                  <a:srgbClr val="B9AA96"/>
                </a:solidFill>
              </a:rPr>
              <a:t>Điểm cộng thêm = Số quả x Hệ số Combo. Kèm theo hiệu ứng chữ COMBO rực rỡ.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Tăng cảm giác thỏa mãn: </a:t>
            </a:r>
            <a:r>
              <a:rPr b="0" sz="1050">
                <a:solidFill>
                  <a:srgbClr val="B9AA96"/>
                </a:solidFill>
              </a:rPr>
              <a:t>Khuyến khích người chơi rình rập cơ hội để gom quả chém một lúc thay vì chém lẻ tẻ.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DC3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DC3223"/>
                </a:solidFill>
              </a:defRPr>
            </a:pPr>
            <a:r>
              <a:t>02. HỆ THỐNG 3 MẠNG SỐNG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Mạng sống trực quan: </a:t>
            </a:r>
            <a:r>
              <a:rPr b="0" sz="1050">
                <a:solidFill>
                  <a:srgbClr val="B9AA96"/>
                </a:solidFill>
              </a:rPr>
              <a:t>Hiển thị bằng 3 biểu tượng Trái Tim (Hearts) màu đỏ ở góc trên màn hình.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Cơ chế tha bổng (Forgiving): </a:t>
            </a:r>
            <a:r>
              <a:rPr b="0" sz="1050">
                <a:solidFill>
                  <a:srgbClr val="B9AA96"/>
                </a:solidFill>
              </a:rPr>
              <a:t>Trái cây rơi xuống đáy màn hình không bị trừ mạng — người chơi thoải mái tận hưởng không sợ áp lực.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Trừng phạt nghiêm khắc: </a:t>
            </a:r>
            <a:r>
              <a:rPr b="0" sz="1050">
                <a:solidFill>
                  <a:srgbClr val="B9AA96"/>
                </a:solidFill>
              </a:rPr>
              <a:t>Chém trúng bom phát nổ trừ ngay 1 Tim và rung màn hình cảnh báo.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Điều kiện Thua Cuộc: </a:t>
            </a:r>
            <a:r>
              <a:rPr b="0" sz="1050">
                <a:solidFill>
                  <a:srgbClr val="B9AA96"/>
                </a:solidFill>
              </a:rPr>
              <a:t>Khi số Tim về 0, trò chơi lập tức dừng lại và kích hoạt màn hình Game Over.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4CAF50"/>
                </a:solidFill>
              </a:defRPr>
            </a:pPr>
            <a:r>
              <a:t>03. LƯU TRỮ KỶ LỤC (HIGH SCORE)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Lưu trữ bền vững: </a:t>
            </a:r>
            <a:r>
              <a:rPr b="0" sz="1050">
                <a:solidFill>
                  <a:srgbClr val="B9AA96"/>
                </a:solidFill>
              </a:rPr>
              <a:t>Sử dụng công nghệ `PlayerPrefs.SetInt("HighScore", score)` của Unity.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Tự động so sánh kỷ lục: </a:t>
            </a:r>
            <a:r>
              <a:rPr b="0" sz="1050">
                <a:solidFill>
                  <a:srgbClr val="B9AA96"/>
                </a:solidFill>
              </a:rPr>
              <a:t>Mỗi khi kết thúc ván đấu, hệ thống tự động kiểm tra điểm số vừa đạt được với kỷ lục cũ.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Vinh danh thành tích: </a:t>
            </a:r>
            <a:r>
              <a:rPr b="0" sz="1050">
                <a:solidFill>
                  <a:srgbClr val="B9AA96"/>
                </a:solidFill>
              </a:rPr>
              <a:t>Nếu phá vỡ kỷ lục, màn hình Game Over sẽ hiển thị nhãn "NEW BEST SCORE!" nổi bật.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• Lưu giữ qua các phiên chơi: </a:t>
            </a:r>
            <a:r>
              <a:rPr b="0" sz="1050">
                <a:solidFill>
                  <a:srgbClr val="B9AA96"/>
                </a:solidFill>
              </a:rPr>
              <a:t>Điểm cao nhất vẫn được bảo toàn trọn vẹn ngay cả khi tắt game và mở lại.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AC34B"/>
                </a:solidFill>
                <a:latin typeface="Segoe UI"/>
              </a:defRPr>
            </a:pPr>
            <a:r>
              <a:t>MỸ THUẬT &amp; GIAO DIỆN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0E6"/>
                </a:solidFill>
                <a:latin typeface="Segoe UI"/>
              </a:defRPr>
            </a:pPr>
            <a:r>
              <a:t>THIẾT KẾ GIAO DIỆN &amp; TRẢI NGHIỆM NGƯỜI DÙNG (UI/UX)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9AA96"/>
                </a:solidFill>
                <a:latin typeface="Segoe UI"/>
              </a:defRPr>
            </a:pPr>
            <a:r>
              <a:t>Chủ đề võ quán kiếm đạo Nhật Bản mộc mạc, kết hợp hoạt họa trái cây tươi sáng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AC34B"/>
                </a:solidFill>
              </a:defRPr>
            </a:pPr>
            <a:r>
              <a:t>MÀN HÌNH CHÍNH (MAIN MENU)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★ Không gian Võ Quán: </a:t>
            </a:r>
            <a:r>
              <a:rPr b="0" sz="1050">
                <a:solidFill>
                  <a:srgbClr val="B9AA96"/>
                </a:solidFill>
              </a:rPr>
              <a:t>Hình nền thớt gỗ cổ điển, ánh sáng tự nhiên ấm áp, tạo cảm giác thân thuộc.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★ Tiêu đề nổi bật: </a:t>
            </a:r>
            <a:r>
              <a:rPr b="0" sz="1050">
                <a:solidFill>
                  <a:srgbClr val="B9AA96"/>
                </a:solidFill>
              </a:rPr>
              <a:t>Logo Fruit Ninja 2D phong cách thư pháp sắc nét, ấn tượng ngay khi mở game.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★ Nút Play trực quan: </a:t>
            </a:r>
            <a:r>
              <a:rPr b="0" sz="1050">
                <a:solidFill>
                  <a:srgbClr val="B9AA96"/>
                </a:solidFill>
              </a:rPr>
              <a:t>Nút bấm phong cách bảng gỗ to rõ, kích thích người chơi bấm bắt đầu ngay.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★ Hiển thị Kỷ lục: </a:t>
            </a:r>
            <a:r>
              <a:rPr b="0" sz="1050">
                <a:solidFill>
                  <a:srgbClr val="B9AA96"/>
                </a:solidFill>
              </a:rPr>
              <a:t>Điểm High Score hiển thị ngay ngoài sảnh để tạo động lực vượt qua thử thách.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EB7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EB7D19"/>
                </a:solidFill>
              </a:defRPr>
            </a:pPr>
            <a:r>
              <a:t>GIAO DIỆN IN-GAME (GAMEPLAY HUD)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★ Thiết kế tối giản (Minimal): </a:t>
            </a:r>
            <a:r>
              <a:rPr b="0" sz="1050">
                <a:solidFill>
                  <a:srgbClr val="B9AA96"/>
                </a:solidFill>
              </a:rPr>
              <a:t>Chỉ hiển thị các thông số sống còn: Điểm số hiện tại và 3 Tim sinh mệnh.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★ Góc nhìn thông thoáng: </a:t>
            </a:r>
            <a:r>
              <a:rPr b="0" sz="1050">
                <a:solidFill>
                  <a:srgbClr val="B9AA96"/>
                </a:solidFill>
              </a:rPr>
              <a:t>Đặt UI ở góc trên, dành trọn vẹn 90% diện tích màn hình cho không gian chém quả.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★ Phản hồi xúc giác &amp; Âm thanh: </a:t>
            </a:r>
            <a:r>
              <a:rPr b="0" sz="1050">
                <a:solidFill>
                  <a:srgbClr val="B9AA96"/>
                </a:solidFill>
              </a:rPr>
              <a:t>Âm thanh chém kiếm ngọt lịm khi cắt quả, tiếng xì xì ngòi nổ tạo cảm giác hồi hộp.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★ Hiệu ứng té nước ép: </a:t>
            </a:r>
            <a:r>
              <a:rPr b="0" sz="1050">
                <a:solidFill>
                  <a:srgbClr val="B9AA96"/>
                </a:solidFill>
              </a:rPr>
              <a:t>Vệt nước ép trái cây bám nhẹ tạo cảm giác đã tay đã mắt.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A0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2" y="1783080"/>
            <a:ext cx="3054096" cy="731520"/>
          </a:xfrm>
          <a:prstGeom prst="roundRect">
            <a:avLst/>
          </a:prstGeom>
          <a:solidFill>
            <a:srgbClr val="38261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828800"/>
            <a:ext cx="29626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4CAF50"/>
                </a:solidFill>
              </a:defRPr>
            </a:pPr>
            <a:r>
              <a:t>MÀN HÌNH GAME OVER &amp; THỐNG KÊ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651760"/>
            <a:ext cx="299923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★ Bảng thông báo chiến tích: </a:t>
            </a:r>
            <a:r>
              <a:rPr b="0" sz="1050">
                <a:solidFill>
                  <a:srgbClr val="B9AA96"/>
                </a:solidFill>
              </a:rPr>
              <a:t>Hộp thoại tổng kết rõ ràng Điểm số vừa đạt được và Điểm kỷ lục.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★ Hiệu ứng New Best Score: </a:t>
            </a:r>
            <a:r>
              <a:rPr b="0" sz="1050">
                <a:solidFill>
                  <a:srgbClr val="B9AA96"/>
                </a:solidFill>
              </a:rPr>
              <a:t>Huy hiệu vinh danh rực rỡ khi người chơi thiết lập cột mốc kỷ lục mới.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5F0E6"/>
                </a:solidFill>
              </a:rPr>
              <a:t>★ Tái đấu tức thì (Quick Restart): </a:t>
            </a:r>
            <a:r>
              <a:rPr b="0" sz="1050">
                <a:solidFill>
                  <a:srgbClr val="B9AA96"/>
                </a:solidFill>
              </a:rPr>
              <a:t>Chỉ cần 1 nút bấm Restart để reset bàn chơi trong 0.1 giây, không để người chơi phải chờ đợi.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AC34B"/>
                </a:solidFill>
                <a:latin typeface="Segoe UI"/>
              </a:defRPr>
            </a:pPr>
            <a:r>
              <a:t>TỔNG KẾT ĐỒ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0E6"/>
                </a:solidFill>
                <a:latin typeface="Segoe UI"/>
              </a:defRPr>
            </a:pPr>
            <a:r>
              <a:t>KẾT LUẬN &amp; HƯỚNG PHÁT TRIỂN DỰ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9AA96"/>
                </a:solidFill>
                <a:latin typeface="Segoe UI"/>
              </a:defRPr>
            </a:pPr>
            <a:r>
              <a:t>Đánh giá mức độ hoàn thiện sản phẩm và định hướng nâng cấp trong tương lai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320040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709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AC34B"/>
                </a:solidFill>
              </a:defRPr>
            </a:pPr>
            <a:r>
              <a:t>🏆 KẾT QUẢ ĐẠT ĐƯỢC CỦA ĐỒ 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709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5F0E6"/>
                </a:solidFill>
              </a:rPr>
              <a:t>✔ Hoàn thiện 100% Core Gameplay: </a:t>
            </a:r>
            <a:r>
              <a:rPr b="0" sz="1050">
                <a:solidFill>
                  <a:srgbClr val="B9AA96"/>
                </a:solidFill>
              </a:rPr>
              <a:t>Cơ chế chém quả, nảy vật lý, bẫy bom, tính điểm và mạng sống vận hành hoàn hảo.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5F0E6"/>
                </a:solidFill>
              </a:rPr>
              <a:t>✔ Hiệu năng tối ưu tuyệt đối: </a:t>
            </a:r>
            <a:r>
              <a:rPr b="0" sz="1050">
                <a:solidFill>
                  <a:srgbClr val="B9AA96"/>
                </a:solidFill>
              </a:rPr>
              <a:t>Áp dụng thành công Object Pooling giúp game đạt tốc độ 60+ FPS ổn định, mượt mà.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5F0E6"/>
                </a:solidFill>
              </a:rPr>
              <a:t>✔ Kiến trúc mã nguồn chuẩn mực: </a:t>
            </a:r>
            <a:r>
              <a:rPr b="0" sz="1050">
                <a:solidFill>
                  <a:srgbClr val="B9AA96"/>
                </a:solidFill>
              </a:rPr>
              <a:t>Tổ chức code sạch sẽ, tuân thủ nguyên lý OOP, Singleton và tách biệt các Manager rõ ràng.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5F0E6"/>
                </a:solidFill>
              </a:rPr>
              <a:t>✔ Đồ họa &amp; Âm thanh sống động: </a:t>
            </a:r>
            <a:r>
              <a:rPr b="0" sz="1050">
                <a:solidFill>
                  <a:srgbClr val="B9AA96"/>
                </a:solidFill>
              </a:rPr>
              <a:t>Giao diện phong cách võ quán ấm cúng, hiệu ứng vệt kiếm và rung camera cuốn hút.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5257800" cy="3200400"/>
          </a:xfrm>
          <a:prstGeom prst="roundRect">
            <a:avLst/>
          </a:prstGeom>
          <a:solidFill>
            <a:srgbClr val="281B12"/>
          </a:solidFill>
          <a:ln w="15240">
            <a:solidFill>
              <a:srgbClr val="EB7D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783080"/>
            <a:ext cx="4709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EB7D19"/>
                </a:solidFill>
              </a:defRPr>
            </a:pPr>
            <a:r>
              <a:t>🚀 HƯỚNG PHÁT TRIỂN TRONG TƯƠNG 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40280"/>
            <a:ext cx="4709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5F0E6"/>
                </a:solidFill>
              </a:rPr>
              <a:t>✦ Thêm Chế Độ Chơi Mới: </a:t>
            </a:r>
            <a:r>
              <a:rPr b="0" sz="1050">
                <a:solidFill>
                  <a:srgbClr val="B9AA96"/>
                </a:solidFill>
              </a:rPr>
              <a:t>Bổ sung chế độ tính giờ Zen Mode (90s không bom) và Arcade Mode với nhiều loại trái cây ma thuật.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5F0E6"/>
                </a:solidFill>
              </a:rPr>
              <a:t>✦ Trái Cây Kỹ Năng Đặc Biệt: </a:t>
            </a:r>
            <a:r>
              <a:rPr b="0" sz="1050">
                <a:solidFill>
                  <a:srgbClr val="B9AA96"/>
                </a:solidFill>
              </a:rPr>
              <a:t>Chuối Freeze (đóng băng làm chậm thời gian), Chuối Frenzy (bắn bão hoa quả liên tục).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5F0E6"/>
                </a:solidFill>
              </a:rPr>
              <a:t>✦ Tùy Biến Lưỡi Kiếm &amp; Dojo: </a:t>
            </a:r>
            <a:r>
              <a:rPr b="0" sz="1050">
                <a:solidFill>
                  <a:srgbClr val="B9AA96"/>
                </a:solidFill>
              </a:rPr>
              <a:t>Cửa hàng Skin kiếm (Blade Skins) với hiệu ứng vệt kiếm lửa, băng, sấm sét và đổi nền võ quán.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5F0E6"/>
                </a:solidFill>
              </a:rPr>
              <a:t>✦ Bảng Xếp Hạng Trực Tuyến: </a:t>
            </a:r>
            <a:r>
              <a:rPr b="0" sz="1050">
                <a:solidFill>
                  <a:srgbClr val="B9AA96"/>
                </a:solidFill>
              </a:rPr>
              <a:t>Tích hợp Leaderboard Online (Firebase / PlayFab) để người chơi so tài toàn cầu.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728655" cy="1280160"/>
          </a:xfrm>
          <a:prstGeom prst="roundRect">
            <a:avLst/>
          </a:prstGeom>
          <a:solidFill>
            <a:srgbClr val="382619"/>
          </a:solidFill>
          <a:ln w="15240">
            <a:solidFill>
              <a:srgbClr val="FA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AC34B"/>
                </a:solidFill>
              </a:defRPr>
            </a:pPr>
            <a:r>
              <a:t>CHÂN THÀNH CẢM ƠN THẦY CÔ VÀ HỘI ĐỒNG ĐÃ LẮNG NGHE!</a:t>
            </a:r>
          </a:p>
          <a:p>
            <a:pPr algn="ctr">
              <a:defRPr sz="1300">
                <a:solidFill>
                  <a:srgbClr val="F5F0E6"/>
                </a:solidFill>
              </a:defRPr>
            </a:pPr>
            <a:r>
              <a:t>Kính mời Quý Thầy Cô và các bạn đặt câu hỏi đóng góp cho đồ án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