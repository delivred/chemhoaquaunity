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731520"/>
            <a:ext cx="10728655" cy="54406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88720" y="1097280"/>
            <a:ext cx="4754880" cy="38404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AC34B"/>
                </a:solidFill>
                <a:latin typeface="Segoe UI"/>
              </a:defRPr>
            </a:pPr>
            <a:r>
              <a:t>⚔️  ĐỒ ÁN PHÁT TRIỂN GAME 2D  •  CNTT  ⚔️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AC34B"/>
                </a:solidFill>
                <a:latin typeface="Segoe UI"/>
              </a:defRPr>
            </a:pPr>
            <a:r>
              <a:t>FRUIT NINJA 2D</a:t>
            </a:r>
          </a:p>
          <a:p>
            <a:pPr>
              <a:defRPr sz="1800" b="1">
                <a:solidFill>
                  <a:srgbClr val="FFFAF0"/>
                </a:solidFill>
                <a:latin typeface="Segoe UI"/>
              </a:defRPr>
            </a:pPr>
            <a:r>
              <a:t>GAME CHÉM HOA QUẢ PHONG CÁCH VÕ QUÁN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971800"/>
            <a:ext cx="62179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88720" y="3246120"/>
            <a:ext cx="6217920" cy="2468880"/>
          </a:xfrm>
          <a:prstGeom prst="roundRect">
            <a:avLst/>
          </a:prstGeom>
          <a:solidFill>
            <a:srgbClr val="2E2016"/>
          </a:solidFill>
          <a:ln w="15240">
            <a:solidFill>
              <a:srgbClr val="5A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3383280"/>
            <a:ext cx="576072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dirty="0">
                <a:solidFill>
                  <a:srgbClr val="FAC34B"/>
                </a:solidFill>
                <a:latin typeface="Segoe UI"/>
              </a:rPr>
              <a:t>•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Giảng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viên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hướng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dẫn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: </a:t>
            </a:r>
            <a:r>
              <a:rPr lang="en-US" sz="1200" dirty="0" err="1" smtClean="0">
                <a:solidFill>
                  <a:srgbClr val="EBE4DA"/>
                </a:solidFill>
                <a:latin typeface="Segoe UI"/>
              </a:rPr>
              <a:t>Lê</a:t>
            </a:r>
            <a:r>
              <a:rPr lang="en-US" sz="1200" dirty="0" smtClean="0">
                <a:solidFill>
                  <a:srgbClr val="EBE4DA"/>
                </a:solidFill>
                <a:latin typeface="Segoe UI"/>
              </a:rPr>
              <a:t> </a:t>
            </a:r>
            <a:r>
              <a:rPr lang="en-US" sz="1200" dirty="0" err="1" smtClean="0">
                <a:solidFill>
                  <a:srgbClr val="EBE4DA"/>
                </a:solidFill>
                <a:latin typeface="Segoe UI"/>
              </a:rPr>
              <a:t>Văn</a:t>
            </a:r>
            <a:r>
              <a:rPr lang="en-US" sz="1200" dirty="0" smtClean="0">
                <a:solidFill>
                  <a:srgbClr val="EBE4DA"/>
                </a:solidFill>
                <a:latin typeface="Segoe UI"/>
              </a:rPr>
              <a:t> </a:t>
            </a:r>
            <a:r>
              <a:rPr lang="en-US" sz="1200" dirty="0" err="1" smtClean="0">
                <a:solidFill>
                  <a:srgbClr val="EBE4DA"/>
                </a:solidFill>
                <a:latin typeface="Segoe UI"/>
              </a:rPr>
              <a:t>Hội</a:t>
            </a:r>
            <a:endParaRPr sz="1200" dirty="0">
              <a:solidFill>
                <a:srgbClr val="EBE4DA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FAC34B"/>
                </a:solidFill>
                <a:latin typeface="Segoe UI"/>
              </a:rPr>
              <a:t>•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Sinh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viên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thực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hiện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: </a:t>
            </a:r>
            <a:r>
              <a:rPr lang="en-US" sz="1200" dirty="0" err="1" smtClean="0">
                <a:solidFill>
                  <a:srgbClr val="EBE4DA"/>
                </a:solidFill>
                <a:latin typeface="Segoe UI"/>
              </a:rPr>
              <a:t>Lê</a:t>
            </a:r>
            <a:r>
              <a:rPr lang="en-US" sz="1200" dirty="0" smtClean="0">
                <a:solidFill>
                  <a:srgbClr val="EBE4DA"/>
                </a:solidFill>
                <a:latin typeface="Segoe UI"/>
              </a:rPr>
              <a:t> </a:t>
            </a:r>
            <a:r>
              <a:rPr lang="en-US" sz="1200" dirty="0" err="1" smtClean="0">
                <a:solidFill>
                  <a:srgbClr val="EBE4DA"/>
                </a:solidFill>
                <a:latin typeface="Segoe UI"/>
              </a:rPr>
              <a:t>Đức</a:t>
            </a:r>
            <a:r>
              <a:rPr lang="en-US" sz="1200" dirty="0" smtClean="0">
                <a:solidFill>
                  <a:srgbClr val="EBE4DA"/>
                </a:solidFill>
                <a:latin typeface="Segoe UI"/>
              </a:rPr>
              <a:t> </a:t>
            </a:r>
            <a:r>
              <a:rPr lang="en-US" sz="1200" dirty="0" err="1" smtClean="0">
                <a:solidFill>
                  <a:srgbClr val="EBE4DA"/>
                </a:solidFill>
                <a:latin typeface="Segoe UI"/>
              </a:rPr>
              <a:t>Trọng</a:t>
            </a:r>
            <a:endParaRPr sz="1200" dirty="0">
              <a:solidFill>
                <a:srgbClr val="EBE4DA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b="1" dirty="0" smtClean="0">
                <a:solidFill>
                  <a:srgbClr val="FAC34B"/>
                </a:solidFill>
                <a:latin typeface="Segoe UI"/>
              </a:rPr>
              <a:t>•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Chuyên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ngành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: </a:t>
            </a:r>
            <a:r>
              <a:rPr sz="1200" dirty="0" err="1">
                <a:solidFill>
                  <a:srgbClr val="EBE4DA"/>
                </a:solidFill>
                <a:latin typeface="Segoe UI"/>
              </a:rPr>
              <a:t>Kỹ</a:t>
            </a:r>
            <a:r>
              <a:rPr sz="1200" dirty="0">
                <a:solidFill>
                  <a:srgbClr val="EBE4DA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EBE4DA"/>
                </a:solidFill>
                <a:latin typeface="Segoe UI"/>
              </a:rPr>
              <a:t>thuật</a:t>
            </a:r>
            <a:r>
              <a:rPr sz="1200" dirty="0">
                <a:solidFill>
                  <a:srgbClr val="EBE4DA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EBE4DA"/>
                </a:solidFill>
                <a:latin typeface="Segoe UI"/>
              </a:rPr>
              <a:t>Phần</a:t>
            </a:r>
            <a:r>
              <a:rPr sz="1200" dirty="0">
                <a:solidFill>
                  <a:srgbClr val="EBE4DA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EBE4DA"/>
                </a:solidFill>
                <a:latin typeface="Segoe UI"/>
              </a:rPr>
              <a:t>mềm</a:t>
            </a:r>
            <a:r>
              <a:rPr sz="1200" dirty="0">
                <a:solidFill>
                  <a:srgbClr val="EBE4DA"/>
                </a:solidFill>
                <a:latin typeface="Segoe UI"/>
              </a:rPr>
              <a:t> / </a:t>
            </a:r>
            <a:r>
              <a:rPr sz="1200" dirty="0" err="1">
                <a:solidFill>
                  <a:srgbClr val="EBE4DA"/>
                </a:solidFill>
                <a:latin typeface="Segoe UI"/>
              </a:rPr>
              <a:t>Công</a:t>
            </a:r>
            <a:r>
              <a:rPr sz="1200" dirty="0">
                <a:solidFill>
                  <a:srgbClr val="EBE4DA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EBE4DA"/>
                </a:solidFill>
                <a:latin typeface="Segoe UI"/>
              </a:rPr>
              <a:t>nghệ</a:t>
            </a:r>
            <a:r>
              <a:rPr sz="1200" dirty="0">
                <a:solidFill>
                  <a:srgbClr val="EBE4DA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EBE4DA"/>
                </a:solidFill>
                <a:latin typeface="Segoe UI"/>
              </a:rPr>
              <a:t>Thông</a:t>
            </a:r>
            <a:r>
              <a:rPr sz="1200" dirty="0">
                <a:solidFill>
                  <a:srgbClr val="EBE4DA"/>
                </a:solidFill>
                <a:latin typeface="Segoe UI"/>
              </a:rPr>
              <a:t> tin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FAC34B"/>
                </a:solidFill>
                <a:latin typeface="Segoe UI"/>
              </a:rPr>
              <a:t>•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Nền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tảng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 &amp;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Công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 </a:t>
            </a:r>
            <a:r>
              <a:rPr sz="1200" b="1" dirty="0" err="1">
                <a:solidFill>
                  <a:srgbClr val="FAC34B"/>
                </a:solidFill>
                <a:latin typeface="Segoe UI"/>
              </a:rPr>
              <a:t>nghệ</a:t>
            </a:r>
            <a:r>
              <a:rPr sz="1200" b="1" dirty="0">
                <a:solidFill>
                  <a:srgbClr val="FAC34B"/>
                </a:solidFill>
                <a:latin typeface="Segoe UI"/>
              </a:rPr>
              <a:t>: </a:t>
            </a:r>
            <a:r>
              <a:rPr sz="1200" dirty="0">
                <a:solidFill>
                  <a:srgbClr val="EBE4DA"/>
                </a:solidFill>
                <a:latin typeface="Segoe UI"/>
              </a:rPr>
              <a:t>Unity Engine (URP 2D)  •  C# Scripting</a:t>
            </a:r>
          </a:p>
        </p:txBody>
      </p:sp>
      <p:pic>
        <p:nvPicPr>
          <p:cNvPr id="12" name="Picture 11" descr="Dưa hấ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188720"/>
            <a:ext cx="2468880" cy="1388745"/>
          </a:xfrm>
          <a:prstGeom prst="rect">
            <a:avLst/>
          </a:prstGeom>
        </p:spPr>
      </p:pic>
      <p:pic>
        <p:nvPicPr>
          <p:cNvPr id="13" name="Picture 12" descr="bo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474720"/>
            <a:ext cx="1645920" cy="1004011"/>
          </a:xfrm>
          <a:prstGeom prst="rect">
            <a:avLst/>
          </a:prstGeom>
        </p:spPr>
      </p:pic>
      <p:pic>
        <p:nvPicPr>
          <p:cNvPr id="14" name="Picture 13" descr="C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11480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rPr dirty="0"/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TỔNG QUAN ĐỀ TÀI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GIỚI THIỆU ĐỀ TÀI &amp; MỤC TIÊU PHÁT TRIỂN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Định hướng phát triển tựa game 2D mang tính giải trí cao, kỹ thuật tối ưu và lối chơi mượt mà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AC34B"/>
                </a:solidFill>
                <a:latin typeface="Segoe UI"/>
              </a:defRPr>
            </a:pPr>
            <a:r>
              <a:t>MỤC TIÊU 01 • Ý TƯỞNG &amp; ĐỀ TÀI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 b="1">
                <a:solidFill>
                  <a:srgbClr val="FFFAF0"/>
                </a:solidFill>
                <a:latin typeface="Segoe UI"/>
              </a:rPr>
              <a:t>✔ Lối chơi kinh điển: </a:t>
            </a:r>
            <a:r>
              <a:rPr sz="1100">
                <a:solidFill>
                  <a:srgbClr val="B4A596"/>
                </a:solidFill>
                <a:latin typeface="Segoe UI"/>
              </a:rPr>
              <a:t>Kế thừa phong cách Fruit Ninja huyền thoại, dễ chơi, kích thích phản xạ.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AF0"/>
                </a:solidFill>
                <a:latin typeface="Segoe UI"/>
              </a:rPr>
              <a:t>✔ Chủ đề Võ quán: </a:t>
            </a:r>
            <a:r>
              <a:rPr sz="1100">
                <a:solidFill>
                  <a:srgbClr val="B4A596"/>
                </a:solidFill>
                <a:latin typeface="Segoe UI"/>
              </a:rPr>
              <a:t>Không gian kiếm đạo mộc mạc kết hợp hoạt họa hoa quả tươi sáng.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AF0"/>
                </a:solidFill>
                <a:latin typeface="Segoe UI"/>
              </a:rPr>
              <a:t>✔ Tính giải trí tức thì: </a:t>
            </a:r>
            <a:r>
              <a:rPr sz="1100">
                <a:solidFill>
                  <a:srgbClr val="B4A596"/>
                </a:solidFill>
                <a:latin typeface="Segoe UI"/>
              </a:rPr>
              <a:t>Phù hợp mọi lứa tuổi, giải tỏa căng thẳng với các vệt chém sảng khoái.</a:t>
            </a:r>
          </a:p>
        </p:txBody>
      </p:sp>
      <p:pic>
        <p:nvPicPr>
          <p:cNvPr id="13" name="Picture 12" descr="tá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5257800"/>
            <a:ext cx="914400" cy="914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62856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8576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39C12"/>
                </a:solidFill>
                <a:latin typeface="Segoe UI"/>
              </a:defRPr>
            </a:pPr>
            <a:r>
              <a:t>MỤC TIÊU 02 • MỤC TIÊU KỸ THUẬT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65176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 b="1">
                <a:solidFill>
                  <a:srgbClr val="FFFAF0"/>
                </a:solidFill>
                <a:latin typeface="Segoe UI"/>
              </a:rPr>
              <a:t>✔ Làm chủ Unity 2D: </a:t>
            </a:r>
            <a:r>
              <a:rPr sz="1100">
                <a:solidFill>
                  <a:srgbClr val="B4A596"/>
                </a:solidFill>
                <a:latin typeface="Segoe UI"/>
              </a:rPr>
              <a:t>Vận dụng Rigidbody2D, CircleCollider2D và tia Raycasting.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AF0"/>
                </a:solidFill>
                <a:latin typeface="Segoe UI"/>
              </a:rPr>
              <a:t>✔ Tối ưu hóa bộ nhớ: </a:t>
            </a:r>
            <a:r>
              <a:rPr sz="1100">
                <a:solidFill>
                  <a:srgbClr val="B4A596"/>
                </a:solidFill>
                <a:latin typeface="Segoe UI"/>
              </a:rPr>
              <a:t>Áp dụng Object Pooling triệt tiêu giật lag do Garbage Collection.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AF0"/>
                </a:solidFill>
                <a:latin typeface="Segoe UI"/>
              </a:rPr>
              <a:t>✔ Cấu trúc Clean Code: </a:t>
            </a:r>
            <a:r>
              <a:rPr sz="1100">
                <a:solidFill>
                  <a:srgbClr val="B4A596"/>
                </a:solidFill>
                <a:latin typeface="Segoe UI"/>
              </a:rPr>
              <a:t>Mô hình Singleton, Event-Driven và phân tách Manager mạch lạc.</a:t>
            </a:r>
          </a:p>
        </p:txBody>
      </p:sp>
      <p:pic>
        <p:nvPicPr>
          <p:cNvPr id="18" name="Picture 17" descr="Chu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5257800"/>
            <a:ext cx="914400" cy="914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57032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CC71"/>
                </a:solidFill>
                <a:latin typeface="Segoe UI"/>
              </a:defRPr>
            </a:pPr>
            <a:r>
              <a:t>MỤC TIÊU 03 • MỤC TIÊU SẢN PHẨM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65176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 b="1">
                <a:solidFill>
                  <a:srgbClr val="FFFAF0"/>
                </a:solidFill>
                <a:latin typeface="Segoe UI"/>
              </a:rPr>
              <a:t>✔ Chuẩn 60 FPS mượt mà: </a:t>
            </a:r>
            <a:r>
              <a:rPr sz="1100">
                <a:solidFill>
                  <a:srgbClr val="B4A596"/>
                </a:solidFill>
                <a:latin typeface="Segoe UI"/>
              </a:rPr>
              <a:t>Vận hành ổn định trên nhiều cấu hình thiết bị khác nhau.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AF0"/>
                </a:solidFill>
                <a:latin typeface="Segoe UI"/>
              </a:rPr>
              <a:t>✔ Trải nghiệm xúc giác: </a:t>
            </a:r>
            <a:r>
              <a:rPr sz="1100">
                <a:solidFill>
                  <a:srgbClr val="B4A596"/>
                </a:solidFill>
                <a:latin typeface="Segoe UI"/>
              </a:rPr>
              <a:t>Hiệu ứng vệt kiếm phát sáng, rung chấn camera, âm thanh sống động.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AF0"/>
                </a:solidFill>
                <a:latin typeface="Segoe UI"/>
              </a:rPr>
              <a:t>✔ Dễ dàng mở rộng: </a:t>
            </a:r>
            <a:r>
              <a:rPr sz="1100">
                <a:solidFill>
                  <a:srgbClr val="B4A596"/>
                </a:solidFill>
                <a:latin typeface="Segoe UI"/>
              </a:rPr>
              <a:t>Khung sườn kiến trúc sẵn sàng bổ sung skin kiếm và chế độ chơi mới.</a:t>
            </a:r>
          </a:p>
        </p:txBody>
      </p:sp>
      <p:pic>
        <p:nvPicPr>
          <p:cNvPr id="23" name="Picture 22" descr="DauT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5257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CƠ CHẾ TRÒ CHƠI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TỔNG QUAN GAMEPLAY &amp; LUẬT CHƠI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Lối chơi trực quan, phản xạ nhanh, kích thích sự tập trung và độ chính xác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85232" cy="22402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55648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AC34B"/>
                </a:solidFill>
                <a:latin typeface="Segoe UI"/>
              </a:defRPr>
            </a:pPr>
            <a:r>
              <a:t>⚔️  VỆT KIẾM CHÉM (BLADE SLICE)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AF0"/>
                </a:solidFill>
                <a:latin typeface="Segoe UI"/>
              </a:rPr>
              <a:t>• Thao tác trực quan: </a:t>
            </a:r>
            <a:r>
              <a:rPr sz="1050">
                <a:solidFill>
                  <a:srgbClr val="B4A596"/>
                </a:solidFill>
                <a:latin typeface="Segoe UI"/>
              </a:rPr>
              <a:t>Nhấn giữ chuột hoặc vuốt chạm màn hình cảm ứng để vung kiếm.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FFFAF0"/>
                </a:solidFill>
                <a:latin typeface="Segoe UI"/>
              </a:rPr>
              <a:t>• Ngưỡng tốc độ (Min Velocity): </a:t>
            </a:r>
            <a:r>
              <a:rPr sz="1050">
                <a:solidFill>
                  <a:srgbClr val="B4A596"/>
                </a:solidFill>
                <a:latin typeface="Segoe UI"/>
              </a:rPr>
              <a:t>Đường chém phải đạt tốc độ tối thiểu mới kích hoạt nhát cắt.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FFFAF0"/>
                </a:solidFill>
                <a:latin typeface="Segoe UI"/>
              </a:rPr>
              <a:t>• TrailRenderer động: </a:t>
            </a:r>
            <a:r>
              <a:rPr sz="1050">
                <a:solidFill>
                  <a:srgbClr val="B4A596"/>
                </a:solidFill>
                <a:latin typeface="Segoe UI"/>
              </a:rPr>
              <a:t>Vệt kiếm sáng trắng bám đuổi theo thao tác mượt mà không trễ.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285232" cy="22402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755648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CC71"/>
                </a:solidFill>
                <a:latin typeface="Segoe UI"/>
              </a:defRPr>
            </a:pPr>
            <a:r>
              <a:t>🍉  HOA QUẢ VẬT LÝ TỰ NHIÊN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4884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AF0"/>
                </a:solidFill>
                <a:latin typeface="Segoe UI"/>
              </a:rPr>
              <a:t>• Quỹ đạo Parabol: </a:t>
            </a:r>
            <a:r>
              <a:rPr sz="1050">
                <a:solidFill>
                  <a:srgbClr val="B4A596"/>
                </a:solidFill>
                <a:latin typeface="Segoe UI"/>
              </a:rPr>
              <a:t>Quả bắn từ mép dưới với lực đẩy và góc xiên ngẫu nhiên.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FFFAF0"/>
                </a:solidFill>
                <a:latin typeface="Segoe UI"/>
              </a:rPr>
              <a:t>• Đa dạng chủng loại: </a:t>
            </a:r>
            <a:r>
              <a:rPr sz="1050">
                <a:solidFill>
                  <a:srgbClr val="B4A596"/>
                </a:solidFill>
                <a:latin typeface="Segoe UI"/>
              </a:rPr>
              <a:t>Dưa hấu, Táo, Cam, Chuối, Dâu tây với kích cỡ và điểm số riêng.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FFFAF0"/>
                </a:solidFill>
                <a:latin typeface="Segoe UI"/>
              </a:rPr>
              <a:t>• Tách đôi sống động: </a:t>
            </a:r>
            <a:r>
              <a:rPr sz="1050">
                <a:solidFill>
                  <a:srgbClr val="B4A596"/>
                </a:solidFill>
                <a:latin typeface="Segoe UI"/>
              </a:rPr>
              <a:t>Bị chém trúng tách thành 2 nửa FruitHalf xoay rơi tự 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5285232" cy="22402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178808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3B2D"/>
                </a:solidFill>
                <a:latin typeface="Segoe UI"/>
              </a:defRPr>
            </a:pPr>
            <a:r>
              <a:t>💣  CHƯỚNG NGẠI BẪY BOM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AF0"/>
                </a:solidFill>
                <a:latin typeface="Segoe UI"/>
              </a:rPr>
              <a:t>• Yếu tố bất ngờ: </a:t>
            </a:r>
            <a:r>
              <a:rPr sz="1050">
                <a:solidFill>
                  <a:srgbClr val="B4A596"/>
                </a:solidFill>
                <a:latin typeface="Segoe UI"/>
              </a:rPr>
              <a:t>Bom đen bay xen kẽ giữa các đợt bắn hoa quả để thử thách mắt nhìn.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FFFAF0"/>
                </a:solidFill>
                <a:latin typeface="Segoe UI"/>
              </a:rPr>
              <a:t>• Trừng phạt nghiêm khắc: </a:t>
            </a:r>
            <a:r>
              <a:rPr sz="1050">
                <a:solidFill>
                  <a:srgbClr val="B4A596"/>
                </a:solidFill>
                <a:latin typeface="Segoe UI"/>
              </a:rPr>
              <a:t>Chém trúng bom lập tức kích nổ, rung màn hình và mất 1 Tim.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FFFAF0"/>
                </a:solidFill>
                <a:latin typeface="Segoe UI"/>
              </a:rPr>
              <a:t>• Chiến thuật dừng kiếm: </a:t>
            </a:r>
            <a:r>
              <a:rPr sz="1050">
                <a:solidFill>
                  <a:srgbClr val="B4A596"/>
                </a:solidFill>
                <a:latin typeface="Segoe UI"/>
              </a:rPr>
              <a:t>Yêu cầu người chơi kiểm soát đường vung kiếm chuẩn xác.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69080"/>
            <a:ext cx="5285232" cy="22402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4178808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39C12"/>
                </a:solidFill>
                <a:latin typeface="Segoe UI"/>
              </a:defRPr>
            </a:pPr>
            <a:r>
              <a:t>❤️  SINH TỒN 3 MẠNG &amp; ĐỘ KHÓ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57200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AF0"/>
                </a:solidFill>
                <a:latin typeface="Segoe UI"/>
              </a:rPr>
              <a:t>• 3 Tim sinh mệnh: </a:t>
            </a:r>
            <a:r>
              <a:rPr sz="1050">
                <a:solidFill>
                  <a:srgbClr val="B4A596"/>
                </a:solidFill>
                <a:latin typeface="Segoe UI"/>
              </a:rPr>
              <a:t>Bắt đầu với 3 mạng; khi hết mạng trò chơi kết thúc (Game Over).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FFFAF0"/>
                </a:solidFill>
                <a:latin typeface="Segoe UI"/>
              </a:rPr>
              <a:t>• Chế độ chơi xả stress: </a:t>
            </a:r>
            <a:r>
              <a:rPr sz="1050">
                <a:solidFill>
                  <a:srgbClr val="B4A596"/>
                </a:solidFill>
                <a:latin typeface="Segoe UI"/>
              </a:rPr>
              <a:t>Quả rơi xuống màn hình không trừ mạng, tập trung tạo Combo.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FFFAF0"/>
                </a:solidFill>
                <a:latin typeface="Segoe UI"/>
              </a:rPr>
              <a:t>• Độ khó tăng dần: </a:t>
            </a:r>
            <a:r>
              <a:rPr sz="1050">
                <a:solidFill>
                  <a:srgbClr val="B4A596"/>
                </a:solidFill>
                <a:latin typeface="Segoe UI"/>
              </a:rPr>
              <a:t>Mỗi 10s tần suất và số lượng quả tăng lên, đẩy cao trào trận đấu.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CÔNG NGHỆ ỨNG DỤNG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NGĂN XẾP CÔNG NGHỆ &amp; CÔNG CỤ PHÁT TRIỂN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Bộ công cụ chuẩn công nghiệp game 2D, đảm bảo tính ổn định và khả năng tối ưu cao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42032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" y="1783080"/>
            <a:ext cx="2322576" cy="822960"/>
          </a:xfrm>
          <a:prstGeom prst="rect">
            <a:avLst/>
          </a:prstGeom>
          <a:solidFill>
            <a:srgbClr val="2E2016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AC34B"/>
                </a:solidFill>
                <a:latin typeface="Segoe UI"/>
              </a:defRPr>
            </a:pPr>
            <a:r>
              <a:t>UNITY ENGINE</a:t>
            </a:r>
          </a:p>
          <a:p>
            <a:pPr>
              <a:defRPr sz="1000">
                <a:solidFill>
                  <a:srgbClr val="B4A596"/>
                </a:solidFill>
                <a:latin typeface="Segoe UI"/>
              </a:defRPr>
            </a:pPr>
            <a:r>
              <a:t>2022 / 6 LTS (URP 2D)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Công cụ phát triển game 2D/3D hàng đầu.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Universal Render Pipeline tối ưu hóa hiển thị.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Xuất đa nền tảng: PC, WebGL, Mobile.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1645920"/>
            <a:ext cx="2542032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75304" y="1783080"/>
            <a:ext cx="2322576" cy="822960"/>
          </a:xfrm>
          <a:prstGeom prst="rect">
            <a:avLst/>
          </a:prstGeom>
          <a:solidFill>
            <a:srgbClr val="2E2016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02736" y="1828800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39C12"/>
                </a:solidFill>
                <a:latin typeface="Segoe UI"/>
              </a:defRPr>
            </a:pPr>
            <a:r>
              <a:t>NGÔN NGỮ C#</a:t>
            </a:r>
          </a:p>
          <a:p>
            <a:pPr>
              <a:defRPr sz="1000">
                <a:solidFill>
                  <a:srgbClr val="B4A596"/>
                </a:solidFill>
                <a:latin typeface="Segoe UI"/>
              </a:defRPr>
            </a:pPr>
            <a:r>
              <a:t>Object-Oriented Programming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78892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Hiện thực toàn bộ Gameplay logic &amp; Physics.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Sử dụng Generic Collections tối ưu truy xuất.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Tuân thủ nghiêm ngặt nguyên lý Clean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645920"/>
            <a:ext cx="2542032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783080"/>
            <a:ext cx="2322576" cy="822960"/>
          </a:xfrm>
          <a:prstGeom prst="rect">
            <a:avLst/>
          </a:prstGeom>
          <a:solidFill>
            <a:srgbClr val="2E201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1828800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CC71"/>
                </a:solidFill>
                <a:latin typeface="Segoe UI"/>
              </a:defRPr>
            </a:pPr>
            <a:r>
              <a:t>VẬT LÝ UNITY 2D</a:t>
            </a:r>
          </a:p>
          <a:p>
            <a:pPr>
              <a:defRPr sz="1000">
                <a:solidFill>
                  <a:srgbClr val="B4A596"/>
                </a:solidFill>
                <a:latin typeface="Segoe UI"/>
              </a:defRPr>
            </a:pPr>
            <a:r>
              <a:t>Physics2D &amp; Collision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78892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Rigidbody2D mô phỏng trọng lực Parabol tự nhiên.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Raycast2D cắt kiếm chính xác không độ trễ.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LayerMask phân tầng va chạm Fruit / Bomb riêng.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688" y="1645920"/>
            <a:ext cx="2542032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43416" y="1783080"/>
            <a:ext cx="2322576" cy="822960"/>
          </a:xfrm>
          <a:prstGeom prst="rect">
            <a:avLst/>
          </a:prstGeom>
          <a:solidFill>
            <a:srgbClr val="2E2016"/>
          </a:solidFill>
          <a:ln w="1270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70848" y="1828800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3B2D"/>
                </a:solidFill>
                <a:latin typeface="Segoe UI"/>
              </a:defRPr>
            </a:pPr>
            <a:r>
              <a:t>GRAPHICS &amp; VFX</a:t>
            </a:r>
          </a:p>
          <a:p>
            <a:pPr>
              <a:defRPr sz="1000">
                <a:solidFill>
                  <a:srgbClr val="B4A596"/>
                </a:solidFill>
                <a:latin typeface="Segoe UI"/>
              </a:defRPr>
            </a:pPr>
            <a:r>
              <a:t>Particle &amp; Post-Processing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278892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TrailRenderer tạo vệt sáng kiếm mượt mà.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Particle System tạo hiệu ứng nước ép tóe ra.</a:t>
            </a:r>
          </a:p>
          <a:p>
            <a:pPr>
              <a:spcAft>
                <a:spcPts val="1200"/>
              </a:spcAft>
              <a:defRPr sz="1100">
                <a:solidFill>
                  <a:srgbClr val="FFFAF0"/>
                </a:solidFill>
                <a:latin typeface="Segoe UI"/>
              </a:defRPr>
            </a:pPr>
            <a:r>
              <a:t>❖  Camera Shake tạo rung chấn mạnh khi nổ bom.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THIẾT KẾ PHẦN MỀM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KIẾN TRÚC HỆ THỐNG &amp; CÁC MODULE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Cấu trúc Component-Based kết hợp Singleton Pattern đảm bảo code gọn gàng, độc lập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4297680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AC34B"/>
                </a:solidFill>
              </a:defRPr>
            </a:pPr>
            <a:r>
              <a:t>🏛️ HỆ THỐNG CÁC MODULE CHÍNH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240280"/>
            <a:ext cx="3931920" cy="56692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AC34B"/>
                </a:solidFill>
              </a:defRPr>
            </a:pPr>
            <a:r>
              <a:t>★ GameManager</a:t>
            </a:r>
          </a:p>
          <a:p>
            <a:pPr>
              <a:defRPr sz="950">
                <a:solidFill>
                  <a:srgbClr val="B4A596"/>
                </a:solidFill>
              </a:defRPr>
            </a:pPr>
            <a:r>
              <a:t>Điều phối Game State, Mạng sống, Reset game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98648"/>
            <a:ext cx="3931920" cy="56692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935224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ECC71"/>
                </a:solidFill>
              </a:defRPr>
            </a:pPr>
            <a:r>
              <a:t>★ ScoreManager</a:t>
            </a:r>
          </a:p>
          <a:p>
            <a:pPr>
              <a:defRPr sz="950">
                <a:solidFill>
                  <a:srgbClr val="B4A596"/>
                </a:solidFill>
              </a:defRPr>
            </a:pPr>
            <a:r>
              <a:t>Lưu trữ Điểm số, Combo Streak, High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57016"/>
            <a:ext cx="3931920" cy="56692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593592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39C12"/>
                </a:solidFill>
              </a:defRPr>
            </a:pPr>
            <a:r>
              <a:t>★ UIManager</a:t>
            </a:r>
          </a:p>
          <a:p>
            <a:pPr>
              <a:defRPr sz="950">
                <a:solidFill>
                  <a:srgbClr val="B4A596"/>
                </a:solidFill>
              </a:defRPr>
            </a:pPr>
            <a:r>
              <a:t>Cập nhật HUD, Màn hình Menu, Game 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15384"/>
            <a:ext cx="3931920" cy="56692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FF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25196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FFAF0"/>
                </a:solidFill>
              </a:defRPr>
            </a:pPr>
            <a:r>
              <a:t>★ FruitSpawner</a:t>
            </a:r>
          </a:p>
          <a:p>
            <a:pPr>
              <a:defRPr sz="950">
                <a:solidFill>
                  <a:srgbClr val="B4A596"/>
                </a:solidFill>
              </a:defRPr>
            </a:pPr>
            <a:r>
              <a:t>Tính toán nhịp bắn, góc xiên &amp; lực đẩy Parabol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73752"/>
            <a:ext cx="3931920" cy="56692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910328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498DB"/>
                </a:solidFill>
              </a:defRPr>
            </a:pPr>
            <a:r>
              <a:t>★ BladeController</a:t>
            </a:r>
          </a:p>
          <a:p>
            <a:pPr>
              <a:defRPr sz="950">
                <a:solidFill>
                  <a:srgbClr val="B4A596"/>
                </a:solidFill>
              </a:defRPr>
            </a:pPr>
            <a:r>
              <a:t>Bắt sự kiện vuốt chuột, tính vận tốc &amp; Raycast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532120"/>
            <a:ext cx="3931920" cy="566928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568696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EB3B2D"/>
                </a:solidFill>
              </a:defRPr>
            </a:pPr>
            <a:r>
              <a:t>★ ObjectPool</a:t>
            </a:r>
          </a:p>
          <a:p>
            <a:pPr>
              <a:defRPr sz="950">
                <a:solidFill>
                  <a:srgbClr val="B4A596"/>
                </a:solidFill>
              </a:defRPr>
            </a:pPr>
            <a:r>
              <a:t>Kho tái sử dụng đối tượng Fruit, Half &amp; Bomb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1645920"/>
            <a:ext cx="6199632" cy="14630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40680" y="1719072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AC34B"/>
                </a:solidFill>
              </a:defRPr>
            </a:pPr>
            <a:r>
              <a:t>MẪU THIẾT KẾ SINGLETON (SINGLETON PATTERN)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1993392"/>
            <a:ext cx="5852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FFFAF0"/>
                </a:solidFill>
              </a:rPr>
              <a:t>✔ Một thực thể duy nhất: </a:t>
            </a:r>
            <a:r>
              <a:rPr sz="1050">
                <a:solidFill>
                  <a:srgbClr val="B4A596"/>
                </a:solidFill>
              </a:rPr>
              <a:t>GameManager, ScoreManager tồn tại 1 instance duy nhất.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FFFAF0"/>
                </a:solidFill>
              </a:rPr>
              <a:t>✔ Truy cập thuận tiện: </a:t>
            </a:r>
            <a:r>
              <a:rPr sz="1050">
                <a:solidFill>
                  <a:srgbClr val="B4A596"/>
                </a:solidFill>
              </a:rPr>
              <a:t>Gọi trực tiếp `GameManager.Instance` không cần tham chiếu Inspector.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FFFAF0"/>
                </a:solidFill>
              </a:rPr>
              <a:t>✔ Bảo toàn dữ liệu: </a:t>
            </a:r>
            <a:r>
              <a:rPr sz="1050">
                <a:solidFill>
                  <a:srgbClr val="B4A596"/>
                </a:solidFill>
              </a:rPr>
              <a:t>Dữ liệu điểm số và kỷ lục không bị mất giữa các lần chơi lại.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3227832"/>
            <a:ext cx="6199632" cy="14630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40680" y="3300984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39C12"/>
                </a:solidFill>
              </a:defRPr>
            </a:pPr>
            <a:r>
              <a:t>GIAO TIẾP EVENT-DRIVEN &amp; LOOSE COUPLING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3575304"/>
            <a:ext cx="5852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FFFAF0"/>
                </a:solidFill>
              </a:rPr>
              <a:t>✔ Tách biệt logic: </a:t>
            </a:r>
            <a:r>
              <a:rPr sz="1050">
                <a:solidFill>
                  <a:srgbClr val="B4A596"/>
                </a:solidFill>
              </a:rPr>
              <a:t>Logic tính điểm hoàn toàn độc lập với việc vẽ text giao diện UI.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FFFAF0"/>
                </a:solidFill>
              </a:rPr>
              <a:t>✔ Phản xạ thời gian thực: </a:t>
            </a:r>
            <a:r>
              <a:rPr sz="1050">
                <a:solidFill>
                  <a:srgbClr val="B4A596"/>
                </a:solidFill>
              </a:rPr>
              <a:t>Khi chém quả, Fruit kích hoạt event để ScoreManager và UIManager đồng thời cập nhật.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4809744"/>
            <a:ext cx="6199632" cy="14630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40680" y="4882896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CC71"/>
                </a:solidFill>
              </a:defRPr>
            </a:pPr>
            <a:r>
              <a:t>QUẢN LÝ VÒNG ĐỜI TRÒ CHƠI (GAME LOOP)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157216"/>
            <a:ext cx="5852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FFFAF0"/>
                </a:solidFill>
              </a:rPr>
              <a:t>✔ Game State rõ ràng: </a:t>
            </a:r>
            <a:r>
              <a:rPr sz="1050">
                <a:solidFill>
                  <a:srgbClr val="B4A596"/>
                </a:solidFill>
              </a:rPr>
              <a:t>Quản lý các trạng thái: Menu -&gt; Playing -&gt; Paused -&gt; GameOver.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FFFAF0"/>
                </a:solidFill>
              </a:rPr>
              <a:t>✔ Kiểm soát TimeScale: </a:t>
            </a:r>
            <a:r>
              <a:rPr sz="1050">
                <a:solidFill>
                  <a:srgbClr val="B4A596"/>
                </a:solidFill>
              </a:rPr>
              <a:t>Dừng game tức thời `Time.timeScale = 0` khi Game Over mà không gây lỗi luồng vật lý.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THUẬT TOÁN XỬ LÝ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KỸ THUẬT VẾT CHÉM &amp; PHÂN TÁCH TRÁI CÂY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Kết hợp mượt mà giữa tính toán hình học Vector2, Raycast 2D và hiệu ứng vật lý Rigidbody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AC34B"/>
                </a:solidFill>
              </a:defRPr>
            </a:pPr>
            <a:r>
              <a:t>BƯỚC 01 • NHẬN DIỆN VẾT CHÉM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❖ Lưu vị trí frame: </a:t>
            </a:r>
            <a:r>
              <a:rPr sz="1050">
                <a:solidFill>
                  <a:srgbClr val="B4A596"/>
                </a:solidFill>
              </a:rPr>
              <a:t>Liên tục cập nhật tọa độ chuột `previousPos` và `currentPos`.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❖ Ngưỡng Min Velocity: </a:t>
            </a:r>
            <a:r>
              <a:rPr sz="1050">
                <a:solidFill>
                  <a:srgbClr val="B4A596"/>
                </a:solidFill>
              </a:rPr>
              <a:t>Chỉ kích hoạt khi tốc độ quẹt đạt ngưỡng cho phép.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❖ Physics2D.Linecast: </a:t>
            </a:r>
            <a:r>
              <a:rPr sz="1050">
                <a:solidFill>
                  <a:srgbClr val="B4A596"/>
                </a:solidFill>
              </a:rPr>
              <a:t>Bắn tia giữa 2 điểm chuột quét trúng collider quả.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❖ Bộ lọc HashSet: </a:t>
            </a:r>
            <a:r>
              <a:rPr sz="1050">
                <a:solidFill>
                  <a:srgbClr val="B4A596"/>
                </a:solidFill>
              </a:rPr>
              <a:t>Đảm bảo mỗi nhát quẹt chỉ tính trúng 1 lần trên mỗi quả.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62856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39C12"/>
                </a:solidFill>
              </a:defRPr>
            </a:pPr>
            <a:r>
              <a:t>BƯỚC 02 • PHÂN TÁCH FRUITHALF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❖ Ẩn quả nguyên lập tức: </a:t>
            </a:r>
            <a:r>
              <a:rPr sz="1050">
                <a:solidFill>
                  <a:srgbClr val="B4A596"/>
                </a:solidFill>
              </a:rPr>
              <a:t>Quả nguyên lập tức ẩn đi (`SetActive: false`) và về Pool.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❖ Kích hoạt 2 nửa quả: </a:t>
            </a:r>
            <a:r>
              <a:rPr sz="1050">
                <a:solidFill>
                  <a:srgbClr val="B4A596"/>
                </a:solidFill>
              </a:rPr>
              <a:t>Lấy 2 nửa FruitHalf tương ứng từ Object Pool.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❖ Lực đẩy trái chiều: </a:t>
            </a:r>
            <a:r>
              <a:rPr sz="1050">
                <a:solidFill>
                  <a:srgbClr val="B4A596"/>
                </a:solidFill>
              </a:rPr>
              <a:t>Gán vận tốc nảy: Nửa trái bay sang -X, nửa phải sang +X.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❖ AddTorque xoay tròn: </a:t>
            </a:r>
            <a:r>
              <a:rPr sz="1050">
                <a:solidFill>
                  <a:srgbClr val="B4A596"/>
                </a:solidFill>
              </a:rPr>
              <a:t>Tạo momen xoắn ngẫu nhiên cho 2 nửa quả xoay rơi.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57032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ECC71"/>
                </a:solidFill>
              </a:defRPr>
            </a:pPr>
            <a:r>
              <a:t>BƯỚC 03 • HIỆU ỨNG THỊ GIÁC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❖ TrailRenderer phát sáng: </a:t>
            </a:r>
            <a:r>
              <a:rPr sz="1050">
                <a:solidFill>
                  <a:srgbClr val="B4A596"/>
                </a:solidFill>
              </a:rPr>
              <a:t>Vệt kiếm sáng trắng co đuôi dần trong 0.15 giây.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❖ Splash Juice Particles: </a:t>
            </a:r>
            <a:r>
              <a:rPr sz="1050">
                <a:solidFill>
                  <a:srgbClr val="B4A596"/>
                </a:solidFill>
              </a:rPr>
              <a:t>Tung hạt nước ép màu sắc đặc trưng tại điểm chém.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❖ Camera Shake: </a:t>
            </a:r>
            <a:r>
              <a:rPr sz="1050">
                <a:solidFill>
                  <a:srgbClr val="B4A596"/>
                </a:solidFill>
              </a:rPr>
              <a:t>Rung màn hình 0.2s khi chém trúng bom hoặc combo lớn.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❖ Âm thanh chém ngọt: </a:t>
            </a:r>
            <a:r>
              <a:rPr sz="1050">
                <a:solidFill>
                  <a:srgbClr val="B4A596"/>
                </a:solidFill>
              </a:rPr>
              <a:t>Phát Sound Effect 'xoẹt' tức thì ngay khi va chạm.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TỐI ƯU HÓA HIỆU NĂNG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TỐI ƯU HIỆU NĂNG VỚI KỸ THUẬT OBJECT POOLING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Triệt tiêu hiện tượng nghẽn bộ nhớ và sụt giảm khung hình, duy trì 60+ FPS ổn định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57800" cy="33832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3B2D"/>
                </a:solidFill>
              </a:defRPr>
            </a:pPr>
            <a:r>
              <a:t>❌ CÁCH TRUYỀN THỐNG (KHÔNG DÙNG POOL)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40280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✖ Liên tục Instantiate / Destroy: </a:t>
            </a:r>
            <a:r>
              <a:rPr sz="1050">
                <a:solidFill>
                  <a:srgbClr val="B4A596"/>
                </a:solidFill>
              </a:rPr>
              <a:t>Mỗi quả sinh ra và biến mất liên tục tạo ra các vùng nhớ rác mới.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✖ Phân mảnh RAM nghiêm trọng: </a:t>
            </a:r>
            <a:r>
              <a:rPr sz="1050">
                <a:solidFill>
                  <a:srgbClr val="B4A596"/>
                </a:solidFill>
              </a:rPr>
              <a:t>Hệ điều hành và Unity Engine phải cấp phát và thu hồi RAM liên tục.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✖ Garbage Collector Spike: </a:t>
            </a:r>
            <a:r>
              <a:rPr sz="1050">
                <a:solidFill>
                  <a:srgbClr val="B4A596"/>
                </a:solidFill>
              </a:rPr>
              <a:t>Bộ dọn rác GC bất ngờ dừng luồng game để giải phóng RAM.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✖ Hậu quả trực tiếp: </a:t>
            </a:r>
            <a:r>
              <a:rPr sz="1050">
                <a:solidFill>
                  <a:srgbClr val="B4A596"/>
                </a:solidFill>
              </a:rPr>
              <a:t>Sụt FPS, hình ảnh bị khựng giật (Stuttering), trải nghiệm chém bị trễ.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45920"/>
            <a:ext cx="5257800" cy="338328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CC71"/>
                </a:solidFill>
              </a:defRPr>
            </a:pPr>
            <a:r>
              <a:t>✔ GIẢI PHÁP OBJECT POOLING (ÁP DỤNG)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240280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★ Khởi tạo sẵn một lần: </a:t>
            </a:r>
            <a:r>
              <a:rPr sz="1050">
                <a:solidFill>
                  <a:srgbClr val="B4A596"/>
                </a:solidFill>
              </a:rPr>
              <a:t>Tạo trước 1 kho đối tượng quả và bom ngay khi nạp Scene đầu game.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★ Tái chế tức thời (Recycle): </a:t>
            </a:r>
            <a:r>
              <a:rPr sz="1050">
                <a:solidFill>
                  <a:srgbClr val="B4A596"/>
                </a:solidFill>
              </a:rPr>
              <a:t>Bật `SetActive(true)` khi bắn quả, tắt `SetActive(false)` khi chém xong.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★ Không sinh rác bộ nhớ: </a:t>
            </a:r>
            <a:r>
              <a:rPr sz="1050">
                <a:solidFill>
                  <a:srgbClr val="B4A596"/>
                </a:solidFill>
              </a:rPr>
              <a:t>Số lượng Object trong RAM giữ nguyên, GC Allocation đạt ~0 byte.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★ Kết quả đạt được: </a:t>
            </a:r>
            <a:r>
              <a:rPr sz="1050">
                <a:solidFill>
                  <a:srgbClr val="B4A596"/>
                </a:solidFill>
              </a:rPr>
              <a:t>Duy trì ổn định 60+ FPS, gameplay mượt mà trên mọi dòng máy tính.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3328416" cy="1051560"/>
          </a:xfrm>
          <a:prstGeom prst="roundRect">
            <a:avLst/>
          </a:prstGeom>
          <a:solidFill>
            <a:srgbClr val="2E2016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285232"/>
            <a:ext cx="314553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</a:defRPr>
            </a:pPr>
            <a:r>
              <a:t>60+ FPS</a:t>
            </a:r>
          </a:p>
          <a:p>
            <a:pPr algn="ctr">
              <a:defRPr sz="1050">
                <a:solidFill>
                  <a:srgbClr val="EBE4DA"/>
                </a:solidFill>
              </a:defRPr>
            </a:pPr>
            <a:r>
              <a:t>Tốc độ khung hình ổn định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5212080"/>
            <a:ext cx="3328416" cy="1051560"/>
          </a:xfrm>
          <a:prstGeom prst="roundRect">
            <a:avLst/>
          </a:prstGeom>
          <a:solidFill>
            <a:srgbClr val="2E2016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17136" y="5285232"/>
            <a:ext cx="314553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AC34B"/>
                </a:solidFill>
              </a:defRPr>
            </a:pPr>
            <a:r>
              <a:t>~0 ms</a:t>
            </a:r>
          </a:p>
          <a:p>
            <a:pPr algn="ctr">
              <a:defRPr sz="1050">
                <a:solidFill>
                  <a:srgbClr val="EBE4DA"/>
                </a:solidFill>
              </a:defRPr>
            </a:pPr>
            <a:r>
              <a:t>Thời gian dừng chờ Garbage Collector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5212080"/>
            <a:ext cx="3328416" cy="1051560"/>
          </a:xfrm>
          <a:prstGeom prst="roundRect">
            <a:avLst/>
          </a:prstGeom>
          <a:solidFill>
            <a:srgbClr val="2E2016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2" y="5285232"/>
            <a:ext cx="314553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39C12"/>
                </a:solidFill>
              </a:defRPr>
            </a:pPr>
            <a:r>
              <a:t>-40% CPU</a:t>
            </a:r>
          </a:p>
          <a:p>
            <a:pPr algn="ctr">
              <a:defRPr sz="1050">
                <a:solidFill>
                  <a:srgbClr val="EBE4DA"/>
                </a:solidFill>
              </a:defRPr>
            </a:pPr>
            <a:r>
              <a:t>Mức tiêu hao tài nguyên xử lý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CƠ CHẾ TÍNH ĐIỂM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HỆ THỐNG ĐIỂM SỐ, COMBO STREAK &amp; KỶ LỤC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Tạo động lực cạnh tranh, tăng tính lôi cuốn và thúc đẩy giá trị chơi lại nhiều lần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AC34B"/>
                </a:solidFill>
              </a:defRPr>
            </a:pPr>
            <a:r>
              <a:t>01 • ĐIỂM SỐ &amp; COMBO STREAK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• Điểm chém cơ bản: </a:t>
            </a:r>
            <a:r>
              <a:rPr sz="1050">
                <a:solidFill>
                  <a:srgbClr val="B4A596"/>
                </a:solidFill>
              </a:rPr>
              <a:t>Mỗi quả hoa quả chém trúng cộng trực tiếp +1 Điểm.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• Cơ chế Combo Streak: </a:t>
            </a:r>
            <a:r>
              <a:rPr sz="1050">
                <a:solidFill>
                  <a:srgbClr val="B4A596"/>
                </a:solidFill>
              </a:rPr>
              <a:t>Chém trúng từ 3 quả trở lên trong 1 đường quẹt chuột.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• Cấp số nhân điểm thưởng: </a:t>
            </a:r>
            <a:r>
              <a:rPr sz="1050">
                <a:solidFill>
                  <a:srgbClr val="B4A596"/>
                </a:solidFill>
              </a:rPr>
              <a:t>Điểm nhận được = Số quả x Hệ số Combo thưởng.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• Hiệu ứng thỏa mãn: </a:t>
            </a:r>
            <a:r>
              <a:rPr sz="1050">
                <a:solidFill>
                  <a:srgbClr val="B4A596"/>
                </a:solidFill>
              </a:rPr>
              <a:t>Hiện popup chữ COMBO nổi bật khích lệ người chơi gom quả.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62856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EB3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EB3B2D"/>
                </a:solidFill>
              </a:defRPr>
            </a:pPr>
            <a:r>
              <a:t>02 • 3 TIM SINH MỆNH &amp; BẪY BOM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• Khởi đầu với 3 Tim: </a:t>
            </a:r>
            <a:r>
              <a:rPr sz="1050">
                <a:solidFill>
                  <a:srgbClr val="B4A596"/>
                </a:solidFill>
              </a:rPr>
              <a:t>Hiển thị 3 biểu tượng Trái Tim ở góc trên màn hình.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• Cơ chế tha bổng: </a:t>
            </a:r>
            <a:r>
              <a:rPr sz="1050">
                <a:solidFill>
                  <a:srgbClr val="B4A596"/>
                </a:solidFill>
              </a:rPr>
              <a:t>Quả rơi tự do chạm đáy màn hình không bị trừ mạng.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• Trừng phạt nghiêm khắc: </a:t>
            </a:r>
            <a:r>
              <a:rPr sz="1050">
                <a:solidFill>
                  <a:srgbClr val="B4A596"/>
                </a:solidFill>
              </a:rPr>
              <a:t>Chém trúng bom nổ trừ ngay 1 Tim và rung giật màn hình.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• Kết thúc trò chơi: </a:t>
            </a:r>
            <a:r>
              <a:rPr sz="1050">
                <a:solidFill>
                  <a:srgbClr val="B4A596"/>
                </a:solidFill>
              </a:rPr>
              <a:t>Mất hết 3 Tim trò chơi lập tức chuyển sang Game Over.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57032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ECC71"/>
                </a:solidFill>
              </a:defRPr>
            </a:pPr>
            <a:r>
              <a:t>03 • LƯU KỶ LỤC (HIGH SCORE)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• Lưu trữ bền vững: </a:t>
            </a:r>
            <a:r>
              <a:rPr sz="1050">
                <a:solidFill>
                  <a:srgbClr val="B4A596"/>
                </a:solidFill>
              </a:rPr>
              <a:t>Sử dụng công nghệ PlayerPrefs của Unity Engine.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• Tự so sánh thành tích: </a:t>
            </a:r>
            <a:r>
              <a:rPr sz="1050">
                <a:solidFill>
                  <a:srgbClr val="B4A596"/>
                </a:solidFill>
              </a:rPr>
              <a:t>Tự động so sánh điểm số sau mỗi ván chơi với kỷ lục cũ.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• Vinh danh kỷ lục mới: </a:t>
            </a:r>
            <a:r>
              <a:rPr sz="1050">
                <a:solidFill>
                  <a:srgbClr val="B4A596"/>
                </a:solidFill>
              </a:rPr>
              <a:t>Hiển thị nhãn 'NEW BEST SCORE!' khi phá kỷ lục.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AF0"/>
                </a:solidFill>
              </a:rPr>
              <a:t>• Dữ liệu vĩnh viễn: </a:t>
            </a:r>
            <a:r>
              <a:rPr sz="1050">
                <a:solidFill>
                  <a:srgbClr val="B4A596"/>
                </a:solidFill>
              </a:rPr>
              <a:t>Điểm kỷ lục được lưu giữ ngay cả khi tắt game và mở lại.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MỸ THUẬT &amp; GIAO DIỆN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THIẾT KẾ GIAO DIỆN &amp; TRẢI NGHIỆM VÕ QUÁN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Chủ đề võ quán kiếm đạo mộc mạc, tối giản giao diện để tối đa hóa không gian chém quả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AC34B"/>
                </a:solidFill>
              </a:defRPr>
            </a:pPr>
            <a:r>
              <a:t>MÀN HÌNH CHÍNH (MAIN MENU)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FFFAF0"/>
                </a:solidFill>
              </a:rPr>
              <a:t>★ Không gian Võ quán: </a:t>
            </a:r>
            <a:r>
              <a:rPr sz="1050">
                <a:solidFill>
                  <a:srgbClr val="B4A596"/>
                </a:solidFill>
              </a:rPr>
              <a:t>Nền thớt gỗ ấm áp, phong cách kiếm đạo truyền thống.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FFAF0"/>
                </a:solidFill>
              </a:rPr>
              <a:t>★ Nút Play phong cách bảng gỗ: </a:t>
            </a:r>
            <a:r>
              <a:rPr sz="1050">
                <a:solidFill>
                  <a:srgbClr val="B4A596"/>
                </a:solidFill>
              </a:rPr>
              <a:t>Kích thước to rõ, dễ tương tác trên cả PC và cảm ứng.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FFAF0"/>
                </a:solidFill>
              </a:rPr>
              <a:t>★ Hiển thị High Score: </a:t>
            </a:r>
            <a:r>
              <a:rPr sz="1050">
                <a:solidFill>
                  <a:srgbClr val="B4A596"/>
                </a:solidFill>
              </a:rPr>
              <a:t>Điểm kỷ lục hiển thị ngay sảnh chờ khích lệ tinh thần thi đấu.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62856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39C12"/>
                </a:solidFill>
              </a:defRPr>
            </a:pPr>
            <a:r>
              <a:t>GIAO DIỆN TRONG GAME (HUD)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FFFAF0"/>
                </a:solidFill>
              </a:rPr>
              <a:t>★ Thiết kế tối giản (Minimal): </a:t>
            </a:r>
            <a:r>
              <a:rPr sz="1050">
                <a:solidFill>
                  <a:srgbClr val="B4A596"/>
                </a:solidFill>
              </a:rPr>
              <a:t>Chỉ hiển thị Điểm số hiện tại và 3 Tim sinh mệnh.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FFAF0"/>
                </a:solidFill>
              </a:rPr>
              <a:t>★ Góc nhìn thông thoáng 90%: </a:t>
            </a:r>
            <a:r>
              <a:rPr sz="1050">
                <a:solidFill>
                  <a:srgbClr val="B4A596"/>
                </a:solidFill>
              </a:rPr>
              <a:t>HUD gom gọn ở cạnh trên, để trọn không gian cho đường kiếm.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FFAF0"/>
                </a:solidFill>
              </a:rPr>
              <a:t>★ Hiệu ứng vệt chém rực sáng: </a:t>
            </a:r>
            <a:r>
              <a:rPr sz="1050">
                <a:solidFill>
                  <a:srgbClr val="B4A596"/>
                </a:solidFill>
              </a:rPr>
              <a:t>Vệt kiếm bám sát chuột tạo cảm giác sắc bén, chân thực.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57032" y="1783080"/>
            <a:ext cx="3054096" cy="731520"/>
          </a:xfrm>
          <a:prstGeom prst="roundRect">
            <a:avLst/>
          </a:prstGeom>
          <a:solidFill>
            <a:srgbClr val="2E201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ECC71"/>
                </a:solidFill>
              </a:defRPr>
            </a:pPr>
            <a:r>
              <a:t>GAME OVER &amp; THỐNG KÊ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FFFAF0"/>
                </a:solidFill>
              </a:rPr>
              <a:t>★ Bảng tổng kết chiến tích: </a:t>
            </a:r>
            <a:r>
              <a:rPr sz="1050">
                <a:solidFill>
                  <a:srgbClr val="B4A596"/>
                </a:solidFill>
              </a:rPr>
              <a:t>Hiển thị điểm số vừa đạt được và so sánh với kỷ lục cũ.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FFAF0"/>
                </a:solidFill>
              </a:rPr>
              <a:t>★ Huy hiệu New Record: </a:t>
            </a:r>
            <a:r>
              <a:rPr sz="1050">
                <a:solidFill>
                  <a:srgbClr val="B4A596"/>
                </a:solidFill>
              </a:rPr>
              <a:t>Vinh danh thành tích khi người chơi phá vỡ mốc điểm cao nhất.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FFAF0"/>
                </a:solidFill>
              </a:rPr>
              <a:t>★ Tái đấu tức thì: </a:t>
            </a:r>
            <a:r>
              <a:rPr sz="1050">
                <a:solidFill>
                  <a:srgbClr val="B4A596"/>
                </a:solidFill>
              </a:rPr>
              <a:t>Nút Restart nạp lại trận đấu trong 0.1 giây không độ trễ.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0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7864"/>
                </a:solidFill>
                <a:latin typeface="Segoe UI"/>
              </a:defRPr>
            </a:pPr>
            <a:r>
              <a:t>FRUIT NINJA 2D  •  ĐỒ ÁN PHÁT TRIỂN GAME 2D  • 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AC34B"/>
                </a:solidFill>
                <a:latin typeface="Segoe UI"/>
              </a:defRPr>
            </a:pPr>
            <a:r>
              <a:t>★  TỔNG KẾT ĐỒ ÁN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AF0"/>
                </a:solidFill>
                <a:latin typeface="Segoe UI"/>
              </a:defRPr>
            </a:pPr>
            <a:r>
              <a:t>KẾT LUẬN &amp; HƯỚNG PHÁT TRIỂN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B4A596"/>
                </a:solidFill>
                <a:latin typeface="Segoe UI"/>
              </a:defRPr>
            </a:pPr>
            <a:r>
              <a:t>Đánh giá mức độ hoàn thiện sản phẩm và lộ trình nâng cấp mở rộng trong tương lai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57800" cy="320040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AC34B"/>
                </a:solidFill>
              </a:defRPr>
            </a:pPr>
            <a:r>
              <a:t>🏆 KẾT QUẢ ĐẠT ĐƯỢC CỦA ĐỒ 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40280"/>
            <a:ext cx="4800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✔ Hoàn thiện 100% Core Gameplay: </a:t>
            </a:r>
            <a:r>
              <a:rPr sz="1050">
                <a:solidFill>
                  <a:srgbClr val="B4A596"/>
                </a:solidFill>
              </a:rPr>
              <a:t>Cơ chế chém quả, nảy vật lý Parabol, bẫy bom vận hành chính xác.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✔ Hiệu năng tối ưu tuyệt đối: </a:t>
            </a:r>
            <a:r>
              <a:rPr sz="1050">
                <a:solidFill>
                  <a:srgbClr val="B4A596"/>
                </a:solidFill>
              </a:rPr>
              <a:t>Áp dụng Object Pooling đạt 60+ FPS ổn định, triệt tiêu giật lag.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✔ Kiến trúc mã nguồn chuẩn: </a:t>
            </a:r>
            <a:r>
              <a:rPr sz="1050">
                <a:solidFill>
                  <a:srgbClr val="B4A596"/>
                </a:solidFill>
              </a:rPr>
              <a:t>Tuân thủ OOP, Singleton Pattern, phân tách trách nhiệm các Manager rõ ràng.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✔ Đồ họa &amp; Âm thanh sống động: </a:t>
            </a:r>
            <a:r>
              <a:rPr sz="1050">
                <a:solidFill>
                  <a:srgbClr val="B4A596"/>
                </a:solidFill>
              </a:rPr>
              <a:t>Phong cách võ quán ấm cúng, hiệu ứng nước ép và rung camera cuốn hút.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45920"/>
            <a:ext cx="5257800" cy="3200400"/>
          </a:xfrm>
          <a:prstGeom prst="roundRect">
            <a:avLst/>
          </a:prstGeom>
          <a:solidFill>
            <a:srgbClr val="22171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39C12"/>
                </a:solidFill>
              </a:defRPr>
            </a:pPr>
            <a:r>
              <a:t>🚀 HƯỚNG PHÁT TRIỂN TRONG TƯƠNG LAI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240280"/>
            <a:ext cx="4800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✦ Chế độ chơi mới: </a:t>
            </a:r>
            <a:r>
              <a:rPr sz="1050">
                <a:solidFill>
                  <a:srgbClr val="B4A596"/>
                </a:solidFill>
              </a:rPr>
              <a:t>Bổ sung Zen Mode (90s thư giãn không bom) và Arcade Mode tính giờ.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✦ Trái cây kỹ năng đặc biệt: </a:t>
            </a:r>
            <a:r>
              <a:rPr sz="1050">
                <a:solidFill>
                  <a:srgbClr val="B4A596"/>
                </a:solidFill>
              </a:rPr>
              <a:t>Chuối Freeze (đóng băng thời gian), Chuối Frenzy (bão quả liên tục).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✦ Tùy biến Kiếm &amp; Võ quán: </a:t>
            </a:r>
            <a:r>
              <a:rPr sz="1050">
                <a:solidFill>
                  <a:srgbClr val="B4A596"/>
                </a:solidFill>
              </a:rPr>
              <a:t>Cửa hàng Skin kiếm (lửa, băng, lôi) và đổi phông nền võ đường.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AF0"/>
                </a:solidFill>
              </a:rPr>
              <a:t>✦ Bảng xếp hạng Online: </a:t>
            </a:r>
            <a:r>
              <a:rPr sz="1050">
                <a:solidFill>
                  <a:srgbClr val="B4A596"/>
                </a:solidFill>
              </a:rPr>
              <a:t>Tích hợp Leaderboard trực tuyến để người chơi tranh tài toàn cầu.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10912"/>
            <a:ext cx="10728655" cy="1325880"/>
          </a:xfrm>
          <a:prstGeom prst="roundRect">
            <a:avLst/>
          </a:prstGeom>
          <a:solidFill>
            <a:srgbClr val="2E2016"/>
          </a:solidFill>
          <a:ln w="1524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102352"/>
            <a:ext cx="10362895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AC34B"/>
                </a:solidFill>
              </a:defRPr>
            </a:pPr>
            <a:r>
              <a:t>CHÂN THÀNH CẢM ƠN THẦY CÔ VÀ HỘI ĐỒNG ĐÃ LẮNG NGHE!</a:t>
            </a:r>
          </a:p>
          <a:p>
            <a:pPr algn="ctr">
              <a:defRPr sz="1300">
                <a:solidFill>
                  <a:srgbClr val="FFFAF0"/>
                </a:solidFill>
              </a:defRPr>
            </a:pPr>
            <a:r>
              <a:t>Kính mời Quý Thầy Cô và các bạn đặt câu hỏi đóng góp cho đồ án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2595</Words>
  <Application>Microsoft Office PowerPoint</Application>
  <PresentationFormat>Widescreen</PresentationFormat>
  <Paragraphs>185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2026-09-21T05:04:31Z</dcterms:modified>
  <cp:category/>
</cp:coreProperties>
</file>